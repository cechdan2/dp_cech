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notesMasterIdLst>
    <p:notesMasterId r:id="rId24"/>
  </p:notesMasterIdLst>
  <p:handoutMasterIdLst>
    <p:handoutMasterId r:id="rId25"/>
  </p:handoutMasterIdLst>
  <p:sldIdLst>
    <p:sldId id="256" r:id="rId2"/>
    <p:sldId id="290" r:id="rId3"/>
    <p:sldId id="289" r:id="rId4"/>
    <p:sldId id="288" r:id="rId5"/>
    <p:sldId id="258" r:id="rId6"/>
    <p:sldId id="259" r:id="rId7"/>
    <p:sldId id="287" r:id="rId8"/>
    <p:sldId id="281" r:id="rId9"/>
    <p:sldId id="282" r:id="rId10"/>
    <p:sldId id="291" r:id="rId11"/>
    <p:sldId id="261" r:id="rId12"/>
    <p:sldId id="286" r:id="rId13"/>
    <p:sldId id="292" r:id="rId14"/>
    <p:sldId id="301" r:id="rId15"/>
    <p:sldId id="294" r:id="rId16"/>
    <p:sldId id="300" r:id="rId17"/>
    <p:sldId id="298" r:id="rId18"/>
    <p:sldId id="303" r:id="rId19"/>
    <p:sldId id="299" r:id="rId20"/>
    <p:sldId id="304" r:id="rId21"/>
    <p:sldId id="271" r:id="rId22"/>
    <p:sldId id="302" r:id="rId23"/>
  </p:sldIdLst>
  <p:sldSz cx="9144000" cy="6858000" type="screen4x3"/>
  <p:notesSz cx="6858000" cy="9144000"/>
  <p:embeddedFontLst>
    <p:embeddedFont>
      <p:font typeface="Cambria Math" panose="02040503050406030204" pitchFamily="18" charset="0"/>
      <p:regular r:id="rId26"/>
    </p:embeddedFont>
    <p:embeddedFont>
      <p:font typeface="Technika" panose="020B0604020202020204" charset="-18"/>
      <p:regular r:id="rId27"/>
      <p:bold r:id="rId28"/>
      <p:italic r:id="rId29"/>
      <p:boldItalic r:id="rId30"/>
    </p:embeddedFont>
    <p:embeddedFont>
      <p:font typeface="Technika-Bold" panose="00000600000000000000" charset="-18"/>
      <p:regular r:id="rId3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ýchozí oddíl" id="{C0F65902-65C5-47A3-8173-1C1E69D436B5}">
          <p14:sldIdLst>
            <p14:sldId id="256"/>
            <p14:sldId id="290"/>
            <p14:sldId id="289"/>
            <p14:sldId id="288"/>
            <p14:sldId id="258"/>
            <p14:sldId id="259"/>
            <p14:sldId id="287"/>
            <p14:sldId id="281"/>
            <p14:sldId id="282"/>
            <p14:sldId id="291"/>
            <p14:sldId id="261"/>
            <p14:sldId id="286"/>
            <p14:sldId id="292"/>
            <p14:sldId id="301"/>
            <p14:sldId id="294"/>
            <p14:sldId id="300"/>
            <p14:sldId id="298"/>
            <p14:sldId id="303"/>
            <p14:sldId id="299"/>
            <p14:sldId id="304"/>
            <p14:sldId id="271"/>
            <p14:sldId id="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CC"/>
    <a:srgbClr val="FFFFFF"/>
    <a:srgbClr val="9B9B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58" autoAdjust="0"/>
    <p:restoredTop sz="94660"/>
  </p:normalViewPr>
  <p:slideViewPr>
    <p:cSldViewPr snapToGrid="0">
      <p:cViewPr>
        <p:scale>
          <a:sx n="75" d="100"/>
          <a:sy n="75" d="100"/>
        </p:scale>
        <p:origin x="1819" y="283"/>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a:extLst>
              <a:ext uri="{FF2B5EF4-FFF2-40B4-BE49-F238E27FC236}">
                <a16:creationId xmlns:a16="http://schemas.microsoft.com/office/drawing/2014/main" id="{4F927DDB-E38E-56E0-68D1-F0277E6468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a:extLst>
              <a:ext uri="{FF2B5EF4-FFF2-40B4-BE49-F238E27FC236}">
                <a16:creationId xmlns:a16="http://schemas.microsoft.com/office/drawing/2014/main" id="{FE1531CD-E744-D8B9-58C7-DE58A51085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278FD4-5B0C-4EA9-9EAA-ACEED8F991D9}" type="datetimeFigureOut">
              <a:rPr lang="cs-CZ" smtClean="0"/>
              <a:t>23.06.2026</a:t>
            </a:fld>
            <a:endParaRPr lang="cs-CZ"/>
          </a:p>
        </p:txBody>
      </p:sp>
      <p:sp>
        <p:nvSpPr>
          <p:cNvPr id="4" name="Zástupný symbol pro zápatí 3">
            <a:extLst>
              <a:ext uri="{FF2B5EF4-FFF2-40B4-BE49-F238E27FC236}">
                <a16:creationId xmlns:a16="http://schemas.microsoft.com/office/drawing/2014/main" id="{7F84E6B2-94D7-E013-CF44-152E104BA9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5" name="Zástupný symbol pro číslo snímku 4">
            <a:extLst>
              <a:ext uri="{FF2B5EF4-FFF2-40B4-BE49-F238E27FC236}">
                <a16:creationId xmlns:a16="http://schemas.microsoft.com/office/drawing/2014/main" id="{75179A42-D59B-8D9E-6BB1-1BC176BE3E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3EBFC1-65B1-478C-B7AE-A9528456F145}" type="slidenum">
              <a:rPr lang="cs-CZ" smtClean="0"/>
              <a:t>‹#›</a:t>
            </a:fld>
            <a:endParaRPr lang="cs-CZ"/>
          </a:p>
        </p:txBody>
      </p:sp>
    </p:spTree>
    <p:extLst>
      <p:ext uri="{BB962C8B-B14F-4D97-AF65-F5344CB8AC3E}">
        <p14:creationId xmlns:p14="http://schemas.microsoft.com/office/powerpoint/2010/main" val="30112189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DEA99-2716-4936-BF1F-B762771C2CE7}" type="datetimeFigureOut">
              <a:rPr lang="cs-CZ" smtClean="0"/>
              <a:t>23.06.2026</a:t>
            </a:fld>
            <a:endParaRPr lang="cs-CZ"/>
          </a:p>
        </p:txBody>
      </p:sp>
      <p:sp>
        <p:nvSpPr>
          <p:cNvPr id="4" name="Zástupný symbol pro obrázek snímku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6E0AD-BD61-49A8-989F-DB22C83A3288}" type="slidenum">
              <a:rPr lang="cs-CZ" smtClean="0"/>
              <a:t>‹#›</a:t>
            </a:fld>
            <a:endParaRPr lang="cs-CZ"/>
          </a:p>
        </p:txBody>
      </p:sp>
    </p:spTree>
    <p:extLst>
      <p:ext uri="{BB962C8B-B14F-4D97-AF65-F5344CB8AC3E}">
        <p14:creationId xmlns:p14="http://schemas.microsoft.com/office/powerpoint/2010/main" val="28906730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pic>
        <p:nvPicPr>
          <p:cNvPr id="4" name="Obrázek 3"/>
          <p:cNvPicPr>
            <a:picLocks noChangeAspect="1"/>
          </p:cNvPicPr>
          <p:nvPr userDrawn="1"/>
        </p:nvPicPr>
        <p:blipFill rotWithShape="1">
          <a:blip r:embed="rId2" cstate="print">
            <a:extLst>
              <a:ext uri="{28A0092B-C50C-407E-A947-70E740481C1C}">
                <a14:useLocalDpi xmlns:a14="http://schemas.microsoft.com/office/drawing/2010/main" val="0"/>
              </a:ext>
            </a:extLst>
          </a:blip>
          <a:srcRect t="-1" b="-1"/>
          <a:stretch/>
        </p:blipFill>
        <p:spPr>
          <a:xfrm>
            <a:off x="0" y="2"/>
            <a:ext cx="10076688" cy="7556143"/>
          </a:xfrm>
          <a:prstGeom prst="rect">
            <a:avLst/>
          </a:prstGeom>
        </p:spPr>
      </p:pic>
      <p:sp>
        <p:nvSpPr>
          <p:cNvPr id="2" name="Title 1"/>
          <p:cNvSpPr>
            <a:spLocks noGrp="1"/>
          </p:cNvSpPr>
          <p:nvPr>
            <p:ph type="ctrTitle" hasCustomPrompt="1"/>
          </p:nvPr>
        </p:nvSpPr>
        <p:spPr>
          <a:xfrm>
            <a:off x="1080000" y="1800001"/>
            <a:ext cx="7736694" cy="1446663"/>
          </a:xfrm>
        </p:spPr>
        <p:txBody>
          <a:bodyPr anchor="t"/>
          <a:lstStyle>
            <a:lvl1pPr algn="l">
              <a:defRPr lang="cs-CZ" sz="4800" b="1" i="0" u="none" strike="noStrike" kern="4800" baseline="0" smtClean="0">
                <a:solidFill>
                  <a:schemeClr val="bg1"/>
                </a:solidFill>
                <a:latin typeface="Technika-Bold" panose="00000600000000000000" pitchFamily="50" charset="-18"/>
              </a:defRPr>
            </a:lvl1pPr>
          </a:lstStyle>
          <a:p>
            <a:r>
              <a:rPr lang="cs-CZ" sz="4800" b="1" i="0" u="none" strike="noStrike" baseline="0" dirty="0">
                <a:latin typeface="Technika-Bold" panose="00000600000000000000" pitchFamily="50" charset="-18"/>
              </a:rPr>
              <a:t>TITUL PREZENTACE</a:t>
            </a:r>
            <a:br>
              <a:rPr lang="cs-CZ" sz="4800" b="1" i="0" u="none" strike="noStrike" baseline="0" dirty="0">
                <a:latin typeface="Technika-Bold" panose="00000600000000000000" pitchFamily="50" charset="-18"/>
              </a:rPr>
            </a:br>
            <a:r>
              <a:rPr lang="cs-CZ" sz="4800" b="1" i="0" u="none" strike="noStrike" baseline="0" dirty="0">
                <a:latin typeface="Technika-Bold" panose="00000600000000000000" pitchFamily="50" charset="-18"/>
              </a:rPr>
              <a:t>PODTITUL</a:t>
            </a:r>
            <a:endParaRPr lang="en-US" dirty="0"/>
          </a:p>
        </p:txBody>
      </p:sp>
      <p:sp>
        <p:nvSpPr>
          <p:cNvPr id="3" name="Subtitle 2"/>
          <p:cNvSpPr>
            <a:spLocks noGrp="1"/>
          </p:cNvSpPr>
          <p:nvPr>
            <p:ph type="subTitle" idx="1" hasCustomPrompt="1"/>
          </p:nvPr>
        </p:nvSpPr>
        <p:spPr>
          <a:xfrm>
            <a:off x="1080000" y="3441732"/>
            <a:ext cx="7736693" cy="1771721"/>
          </a:xfrm>
        </p:spPr>
        <p:txBody>
          <a:bodyPr/>
          <a:lstStyle>
            <a:lvl1pPr marL="0" indent="0" algn="l">
              <a:buNone/>
              <a:defRPr lang="cs-CZ" sz="2400" b="1" i="0" u="none" strike="noStrike" kern="2800" baseline="0" smtClean="0">
                <a:solidFill>
                  <a:schemeClr val="bg1"/>
                </a:solidFill>
                <a:latin typeface="Technika-Bold" panose="00000600000000000000" pitchFamily="50" charset="-18"/>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cs-CZ" dirty="0"/>
              <a:t>NÁZEV FAKULTY A PRACOVIŠTĚ</a:t>
            </a:r>
            <a:br>
              <a:rPr lang="en-US" dirty="0"/>
            </a:br>
            <a:r>
              <a:rPr lang="cs-CZ" dirty="0"/>
              <a:t>AUTOR/TITUL JMÉNO PŘÍJMENÍ</a:t>
            </a:r>
            <a:br>
              <a:rPr lang="en-US" dirty="0"/>
            </a:br>
            <a:r>
              <a:rPr lang="cs-CZ" dirty="0"/>
              <a:t>DATUM</a:t>
            </a:r>
          </a:p>
        </p:txBody>
      </p:sp>
      <p:pic>
        <p:nvPicPr>
          <p:cNvPr id="5" name="Obrázek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0003" y="274320"/>
            <a:ext cx="1773814" cy="863526"/>
          </a:xfrm>
          <a:prstGeom prst="rect">
            <a:avLst/>
          </a:prstGeom>
        </p:spPr>
      </p:pic>
    </p:spTree>
    <p:extLst>
      <p:ext uri="{BB962C8B-B14F-4D97-AF65-F5344CB8AC3E}">
        <p14:creationId xmlns:p14="http://schemas.microsoft.com/office/powerpoint/2010/main" val="149790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80000" y="1800000"/>
            <a:ext cx="7794000" cy="1087934"/>
          </a:xfrm>
        </p:spPr>
        <p:txBody>
          <a:bodyPr anchor="t"/>
          <a:lstStyle>
            <a:lvl1pPr>
              <a:defRPr sz="2800" kern="2800" baseline="0">
                <a:latin typeface="Technika-Bold" panose="00000600000000000000" pitchFamily="50" charset="-18"/>
              </a:defRPr>
            </a:lvl1pPr>
          </a:lstStyle>
          <a:p>
            <a:r>
              <a:rPr lang="cs-CZ" dirty="0"/>
              <a:t>PODTITUL</a:t>
            </a:r>
            <a:endParaRPr lang="en-US" dirty="0"/>
          </a:p>
        </p:txBody>
      </p:sp>
      <p:sp>
        <p:nvSpPr>
          <p:cNvPr id="3" name="Content Placeholder 2"/>
          <p:cNvSpPr>
            <a:spLocks noGrp="1"/>
          </p:cNvSpPr>
          <p:nvPr>
            <p:ph idx="1" hasCustomPrompt="1"/>
          </p:nvPr>
        </p:nvSpPr>
        <p:spPr>
          <a:xfrm>
            <a:off x="1079999" y="3059766"/>
            <a:ext cx="7794000" cy="3528000"/>
          </a:xfrm>
        </p:spPr>
        <p:txBody>
          <a:bodyPr>
            <a:normAutofit/>
          </a:bodyPr>
          <a:lstStyle>
            <a:lvl1pPr marL="0" indent="0">
              <a:buNone/>
              <a:defRPr sz="2000" kern="3000" baseline="0">
                <a:latin typeface="Technika-Bold" panose="00000600000000000000" pitchFamily="50" charset="-18"/>
              </a:defRPr>
            </a:lvl1pPr>
          </a:lstStyle>
          <a:p>
            <a:pPr lvl="0"/>
            <a:r>
              <a:rPr lang="cs-CZ" dirty="0"/>
              <a:t>VLOŽIT TEXT</a:t>
            </a:r>
            <a:endParaRPr lang="en-US" dirty="0"/>
          </a:p>
        </p:txBody>
      </p:sp>
      <p:sp>
        <p:nvSpPr>
          <p:cNvPr id="4" name="Zástupný symbol pro zápatí 3">
            <a:extLst>
              <a:ext uri="{FF2B5EF4-FFF2-40B4-BE49-F238E27FC236}">
                <a16:creationId xmlns:a16="http://schemas.microsoft.com/office/drawing/2014/main" id="{8F418B4B-C7C3-64A3-5457-7015F6309398}"/>
              </a:ext>
            </a:extLst>
          </p:cNvPr>
          <p:cNvSpPr>
            <a:spLocks noGrp="1"/>
          </p:cNvSpPr>
          <p:nvPr>
            <p:ph type="ftr" sz="quarter" idx="10"/>
          </p:nvPr>
        </p:nvSpPr>
        <p:spPr/>
        <p:txBody>
          <a:bodyPr/>
          <a:lstStyle/>
          <a:p>
            <a:r>
              <a:rPr lang="cs-CZ"/>
              <a:t>Pavel Hron</a:t>
            </a:r>
          </a:p>
        </p:txBody>
      </p:sp>
      <p:sp>
        <p:nvSpPr>
          <p:cNvPr id="5" name="Zástupný symbol pro číslo snímku 4">
            <a:extLst>
              <a:ext uri="{FF2B5EF4-FFF2-40B4-BE49-F238E27FC236}">
                <a16:creationId xmlns:a16="http://schemas.microsoft.com/office/drawing/2014/main" id="{04197448-BE33-94DE-4BC6-6B15B5D71DF7}"/>
              </a:ext>
            </a:extLst>
          </p:cNvPr>
          <p:cNvSpPr>
            <a:spLocks noGrp="1"/>
          </p:cNvSpPr>
          <p:nvPr>
            <p:ph type="sldNum" sz="quarter" idx="11"/>
          </p:nvPr>
        </p:nvSpPr>
        <p:spPr/>
        <p:txBody>
          <a:bodyPr/>
          <a:lstStyle/>
          <a:p>
            <a:fld id="{EE49E6E8-1AE2-4E17-9D02-B0051A1FAF88}" type="slidenum">
              <a:rPr lang="cs-CZ" smtClean="0"/>
              <a:t>‹#›</a:t>
            </a:fld>
            <a:endParaRPr lang="cs-CZ" dirty="0"/>
          </a:p>
        </p:txBody>
      </p:sp>
    </p:spTree>
    <p:extLst>
      <p:ext uri="{BB962C8B-B14F-4D97-AF65-F5344CB8AC3E}">
        <p14:creationId xmlns:p14="http://schemas.microsoft.com/office/powerpoint/2010/main" val="27684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adpis a obrázek">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177198" y="1800001"/>
            <a:ext cx="7696800" cy="4788000"/>
          </a:xfrm>
        </p:spPr>
        <p:txBody>
          <a:bodyPr>
            <a:normAutofit/>
          </a:bodyPr>
          <a:lstStyle>
            <a:lvl1pPr marL="0" indent="0">
              <a:buNone/>
              <a:defRPr sz="2000" kern="3000" baseline="0">
                <a:latin typeface="Technika-Bold" panose="00000600000000000000" pitchFamily="50" charset="-18"/>
              </a:defRPr>
            </a:lvl1pPr>
          </a:lstStyle>
          <a:p>
            <a:pPr lvl="0"/>
            <a:r>
              <a:rPr lang="cs-CZ" dirty="0"/>
              <a:t>VLOŽIT OBRÁZEK</a:t>
            </a:r>
            <a:endParaRPr lang="en-US" dirty="0"/>
          </a:p>
        </p:txBody>
      </p:sp>
    </p:spTree>
    <p:extLst>
      <p:ext uri="{BB962C8B-B14F-4D97-AF65-F5344CB8AC3E}">
        <p14:creationId xmlns:p14="http://schemas.microsoft.com/office/powerpoint/2010/main" val="1234199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brázek">
    <p:spTree>
      <p:nvGrpSpPr>
        <p:cNvPr id="1" name=""/>
        <p:cNvGrpSpPr/>
        <p:nvPr/>
      </p:nvGrpSpPr>
      <p:grpSpPr>
        <a:xfrm>
          <a:off x="0" y="0"/>
          <a:ext cx="0" cy="0"/>
          <a:chOff x="0" y="0"/>
          <a:chExt cx="0" cy="0"/>
        </a:xfrm>
      </p:grpSpPr>
      <p:sp>
        <p:nvSpPr>
          <p:cNvPr id="4" name="Obdélník 3"/>
          <p:cNvSpPr/>
          <p:nvPr userDrawn="1"/>
        </p:nvSpPr>
        <p:spPr>
          <a:xfrm>
            <a:off x="2067641" y="368300"/>
            <a:ext cx="6888707" cy="122848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cs-CZ" sz="1800"/>
          </a:p>
        </p:txBody>
      </p:sp>
      <p:sp>
        <p:nvSpPr>
          <p:cNvPr id="3" name="Content Placeholder 2"/>
          <p:cNvSpPr>
            <a:spLocks noGrp="1"/>
          </p:cNvSpPr>
          <p:nvPr>
            <p:ph idx="1" hasCustomPrompt="1"/>
          </p:nvPr>
        </p:nvSpPr>
        <p:spPr>
          <a:xfrm>
            <a:off x="270000" y="270000"/>
            <a:ext cx="8604000" cy="6318000"/>
          </a:xfrm>
        </p:spPr>
        <p:txBody>
          <a:bodyPr>
            <a:normAutofit/>
          </a:bodyPr>
          <a:lstStyle>
            <a:lvl1pPr marL="0" indent="0" algn="ctr">
              <a:buNone/>
              <a:defRPr sz="2000" kern="3000" baseline="0">
                <a:latin typeface="Technika-Bold" panose="00000600000000000000" pitchFamily="50" charset="-18"/>
              </a:defRPr>
            </a:lvl1pPr>
          </a:lstStyle>
          <a:p>
            <a:pPr lvl="0"/>
            <a:r>
              <a:rPr lang="cs-CZ" dirty="0"/>
              <a:t>VLOŽIT OBRÁZEK</a:t>
            </a:r>
            <a:endParaRPr lang="en-US" dirty="0"/>
          </a:p>
        </p:txBody>
      </p:sp>
    </p:spTree>
    <p:extLst>
      <p:ext uri="{BB962C8B-B14F-4D97-AF65-F5344CB8AC3E}">
        <p14:creationId xmlns:p14="http://schemas.microsoft.com/office/powerpoint/2010/main" val="1420733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Úvodní snímek">
    <p:spTree>
      <p:nvGrpSpPr>
        <p:cNvPr id="1" name=""/>
        <p:cNvGrpSpPr/>
        <p:nvPr/>
      </p:nvGrpSpPr>
      <p:grpSpPr>
        <a:xfrm>
          <a:off x="0" y="0"/>
          <a:ext cx="0" cy="0"/>
          <a:chOff x="0" y="0"/>
          <a:chExt cx="0" cy="0"/>
        </a:xfrm>
      </p:grpSpPr>
      <p:pic>
        <p:nvPicPr>
          <p:cNvPr id="5" name="Obrázek 4"/>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1"/>
            <a:ext cx="10076688" cy="7555992"/>
          </a:xfrm>
          <a:prstGeom prst="rect">
            <a:avLst/>
          </a:prstGeom>
        </p:spPr>
      </p:pic>
      <p:pic>
        <p:nvPicPr>
          <p:cNvPr id="7" name="Picture 2" descr="https://www.email.cz/download/i/J_cdaADwWifiayZrAXd9jpkdWor_gYe_4QlhA3zsTzSB0jpv76wY4UUYT-LRJNvubDBn-to/logo_cvut.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70001" y="274320"/>
            <a:ext cx="1770611" cy="86348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a:spLocks noGrp="1"/>
          </p:cNvSpPr>
          <p:nvPr>
            <p:ph type="ctrTitle" hasCustomPrompt="1"/>
          </p:nvPr>
        </p:nvSpPr>
        <p:spPr>
          <a:xfrm>
            <a:off x="1080000" y="1800001"/>
            <a:ext cx="7736694" cy="1446663"/>
          </a:xfrm>
        </p:spPr>
        <p:txBody>
          <a:bodyPr anchor="t"/>
          <a:lstStyle>
            <a:lvl1pPr algn="l">
              <a:defRPr lang="cs-CZ" sz="4800" b="1" i="0" u="none" strike="noStrike" kern="4800" baseline="0" smtClean="0">
                <a:solidFill>
                  <a:schemeClr val="tx1"/>
                </a:solidFill>
                <a:latin typeface="Technika-Bold" panose="00000600000000000000" pitchFamily="50" charset="-18"/>
              </a:defRPr>
            </a:lvl1pPr>
          </a:lstStyle>
          <a:p>
            <a:r>
              <a:rPr lang="cs-CZ" sz="4800" b="1" i="0" u="none" strike="noStrike" baseline="0" dirty="0">
                <a:latin typeface="Technika-Bold" panose="00000600000000000000" pitchFamily="50" charset="-18"/>
              </a:rPr>
              <a:t>TITUL PREZENTACE</a:t>
            </a:r>
            <a:br>
              <a:rPr lang="cs-CZ" sz="4800" b="1" i="0" u="none" strike="noStrike" baseline="0" dirty="0">
                <a:latin typeface="Technika-Bold" panose="00000600000000000000" pitchFamily="50" charset="-18"/>
              </a:rPr>
            </a:br>
            <a:r>
              <a:rPr lang="cs-CZ" sz="4800" b="1" i="0" u="none" strike="noStrike" baseline="0" dirty="0">
                <a:latin typeface="Technika-Bold" panose="00000600000000000000" pitchFamily="50" charset="-18"/>
              </a:rPr>
              <a:t>PODTITUL</a:t>
            </a:r>
            <a:endParaRPr lang="en-US" dirty="0"/>
          </a:p>
        </p:txBody>
      </p:sp>
      <p:sp>
        <p:nvSpPr>
          <p:cNvPr id="9" name="Subtitle 2"/>
          <p:cNvSpPr>
            <a:spLocks noGrp="1"/>
          </p:cNvSpPr>
          <p:nvPr>
            <p:ph type="subTitle" idx="1" hasCustomPrompt="1"/>
          </p:nvPr>
        </p:nvSpPr>
        <p:spPr>
          <a:xfrm>
            <a:off x="1080000" y="3441732"/>
            <a:ext cx="7736693" cy="1771721"/>
          </a:xfrm>
        </p:spPr>
        <p:txBody>
          <a:bodyPr/>
          <a:lstStyle>
            <a:lvl1pPr marL="0" indent="0" algn="l">
              <a:buNone/>
              <a:defRPr lang="cs-CZ" sz="2400" b="1" i="0" u="none" strike="noStrike" kern="2800" baseline="0" smtClean="0">
                <a:solidFill>
                  <a:schemeClr val="tx1"/>
                </a:solidFill>
                <a:latin typeface="Technika-Bold" panose="00000600000000000000" pitchFamily="50" charset="-18"/>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cs-CZ" dirty="0"/>
              <a:t>NÁZEV FAKULTY A PRACOVIŠTĚ</a:t>
            </a:r>
            <a:br>
              <a:rPr lang="en-US" dirty="0"/>
            </a:br>
            <a:r>
              <a:rPr lang="cs-CZ" dirty="0"/>
              <a:t>AUTOR/TITUL JMÉNO PŘÍJMENÍ</a:t>
            </a:r>
            <a:br>
              <a:rPr lang="en-US" dirty="0"/>
            </a:br>
            <a:r>
              <a:rPr lang="cs-CZ" dirty="0"/>
              <a:t>DATUM</a:t>
            </a:r>
          </a:p>
        </p:txBody>
      </p:sp>
    </p:spTree>
    <p:extLst>
      <p:ext uri="{BB962C8B-B14F-4D97-AF65-F5344CB8AC3E}">
        <p14:creationId xmlns:p14="http://schemas.microsoft.com/office/powerpoint/2010/main" val="10571671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80000" y="1440000"/>
            <a:ext cx="7794000" cy="1325563"/>
          </a:xfrm>
          <a:prstGeom prst="rect">
            <a:avLst/>
          </a:prstGeom>
        </p:spPr>
        <p:txBody>
          <a:bodyPr vert="horz" lIns="91440" tIns="45720" rIns="91440" bIns="45720" rtlCol="0" anchor="ctr">
            <a:normAutofit/>
          </a:bodyPr>
          <a:lstStyle/>
          <a:p>
            <a:r>
              <a:rPr lang="cs-CZ" dirty="0"/>
              <a:t>Kliknutím lze upravit styl.</a:t>
            </a:r>
            <a:endParaRPr lang="en-US" dirty="0"/>
          </a:p>
        </p:txBody>
      </p:sp>
      <p:sp>
        <p:nvSpPr>
          <p:cNvPr id="3" name="Text Placeholder 2"/>
          <p:cNvSpPr>
            <a:spLocks noGrp="1"/>
          </p:cNvSpPr>
          <p:nvPr>
            <p:ph type="body" idx="1"/>
          </p:nvPr>
        </p:nvSpPr>
        <p:spPr>
          <a:xfrm>
            <a:off x="1080000" y="2880000"/>
            <a:ext cx="7794000" cy="3708000"/>
          </a:xfrm>
          <a:prstGeom prst="rect">
            <a:avLst/>
          </a:prstGeom>
        </p:spPr>
        <p:txBody>
          <a:bodyPr vert="horz" lIns="91440" tIns="45720" rIns="91440" bIns="45720" rtlCol="0">
            <a:normAutofit/>
          </a:bodyPr>
          <a:lstStyle/>
          <a:p>
            <a:pPr lvl="0"/>
            <a:r>
              <a:rPr lang="cs-CZ" dirty="0"/>
              <a:t>Upravte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endParaRPr lang="en-US" dirty="0"/>
          </a:p>
        </p:txBody>
      </p:sp>
      <p:pic>
        <p:nvPicPr>
          <p:cNvPr id="1026" name="Picture 2" descr="https://www.email.cz/download/i/J_cdaADwWifiayZrAXd9jpkdWor_gYe_4QlhA3zsTzSB0jpv76wY4UUYT-LRJNvubDBn-to/logo_cvut.jp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270001" y="274320"/>
            <a:ext cx="1770611" cy="863485"/>
          </a:xfrm>
          <a:prstGeom prst="rect">
            <a:avLst/>
          </a:prstGeom>
          <a:noFill/>
          <a:extLst>
            <a:ext uri="{909E8E84-426E-40DD-AFC4-6F175D3DCCD1}">
              <a14:hiddenFill xmlns:a14="http://schemas.microsoft.com/office/drawing/2010/main">
                <a:solidFill>
                  <a:srgbClr val="FFFFFF"/>
                </a:solidFill>
              </a14:hiddenFill>
            </a:ext>
          </a:extLst>
        </p:spPr>
      </p:pic>
      <p:sp>
        <p:nvSpPr>
          <p:cNvPr id="4" name="Zástupný symbol pro číslo snímku 3">
            <a:extLst>
              <a:ext uri="{FF2B5EF4-FFF2-40B4-BE49-F238E27FC236}">
                <a16:creationId xmlns:a16="http://schemas.microsoft.com/office/drawing/2014/main" id="{7D6D2E98-8E9D-558B-C4BD-2608E389954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49E6E8-1AE2-4E17-9D02-B0051A1FAF88}" type="slidenum">
              <a:rPr lang="cs-CZ" smtClean="0"/>
              <a:t>‹#›</a:t>
            </a:fld>
            <a:endParaRPr lang="cs-CZ" dirty="0"/>
          </a:p>
        </p:txBody>
      </p:sp>
      <p:sp>
        <p:nvSpPr>
          <p:cNvPr id="5" name="Zástupný symbol pro zápatí 4">
            <a:extLst>
              <a:ext uri="{FF2B5EF4-FFF2-40B4-BE49-F238E27FC236}">
                <a16:creationId xmlns:a16="http://schemas.microsoft.com/office/drawing/2014/main" id="{DFBDF210-5B62-DFA6-2738-EBB93F602FD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cs-CZ"/>
              <a:t>Pavel Hron</a:t>
            </a:r>
          </a:p>
        </p:txBody>
      </p:sp>
    </p:spTree>
    <p:extLst>
      <p:ext uri="{BB962C8B-B14F-4D97-AF65-F5344CB8AC3E}">
        <p14:creationId xmlns:p14="http://schemas.microsoft.com/office/powerpoint/2010/main" val="6354365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5" r:id="rId3"/>
    <p:sldLayoutId id="2147483684" r:id="rId4"/>
    <p:sldLayoutId id="2147483686" r:id="rId5"/>
  </p:sldLayoutIdLst>
  <p:hf hdr="0" ftr="0" dt="0"/>
  <p:txStyles>
    <p:titleStyle>
      <a:lvl1pPr algn="l" defTabSz="914354" rtl="0" eaLnBrk="1" latinLnBrk="0" hangingPunct="1">
        <a:lnSpc>
          <a:spcPct val="90000"/>
        </a:lnSpc>
        <a:spcBef>
          <a:spcPct val="0"/>
        </a:spcBef>
        <a:buNone/>
        <a:defRPr sz="4400" kern="1200">
          <a:solidFill>
            <a:schemeClr val="tx1"/>
          </a:solidFill>
          <a:latin typeface="Technika-Bold" panose="00000600000000000000" pitchFamily="50" charset="-18"/>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Technika" panose="00000600000000000000" pitchFamily="50" charset="-18"/>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Technika" panose="00000600000000000000" pitchFamily="50" charset="-18"/>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Technika" panose="00000600000000000000" pitchFamily="50" charset="-18"/>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pos="131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swissflow.com/sf800.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adpis 9"/>
          <p:cNvSpPr>
            <a:spLocks noGrp="1"/>
          </p:cNvSpPr>
          <p:nvPr>
            <p:ph type="ctrTitle"/>
          </p:nvPr>
        </p:nvSpPr>
        <p:spPr>
          <a:xfrm>
            <a:off x="1080000" y="1800001"/>
            <a:ext cx="8064000" cy="1446663"/>
          </a:xfrm>
        </p:spPr>
        <p:txBody>
          <a:bodyPr>
            <a:noAutofit/>
          </a:bodyPr>
          <a:lstStyle/>
          <a:p>
            <a:r>
              <a:rPr lang="cs-CZ" sz="3200" dirty="0"/>
              <a:t>Návrh a realizace prototypu automatizovaného nápojového dávkovacího systému s otočným ramenem</a:t>
            </a:r>
            <a:endParaRPr lang="en-US" sz="3200" dirty="0"/>
          </a:p>
        </p:txBody>
      </p:sp>
      <p:sp>
        <p:nvSpPr>
          <p:cNvPr id="11" name="Podnadpis 10"/>
          <p:cNvSpPr>
            <a:spLocks noGrp="1"/>
          </p:cNvSpPr>
          <p:nvPr>
            <p:ph type="subTitle" idx="1"/>
          </p:nvPr>
        </p:nvSpPr>
        <p:spPr>
          <a:xfrm>
            <a:off x="1080000" y="3956739"/>
            <a:ext cx="7736693" cy="1771721"/>
          </a:xfrm>
        </p:spPr>
        <p:txBody>
          <a:bodyPr>
            <a:normAutofit fontScale="62500" lnSpcReduction="20000"/>
          </a:bodyPr>
          <a:lstStyle/>
          <a:p>
            <a:r>
              <a:rPr lang="cs-CZ" dirty="0"/>
              <a:t>České vysoké učení technické v Praze</a:t>
            </a:r>
          </a:p>
          <a:p>
            <a:r>
              <a:rPr lang="cs-CZ" dirty="0"/>
              <a:t>Fakulta strojní</a:t>
            </a:r>
          </a:p>
          <a:p>
            <a:r>
              <a:rPr lang="cs-CZ" dirty="0"/>
              <a:t>Vedoucí: Ing. Adam </a:t>
            </a:r>
            <a:r>
              <a:rPr lang="cs-CZ" dirty="0" err="1"/>
              <a:t>Peichl</a:t>
            </a:r>
            <a:endParaRPr lang="cs-CZ" dirty="0"/>
          </a:p>
          <a:p>
            <a:r>
              <a:rPr lang="cs-CZ" dirty="0"/>
              <a:t>Oponent: Ing. Zdeněk Novák, PhD.</a:t>
            </a:r>
          </a:p>
          <a:p>
            <a:r>
              <a:rPr lang="cs-CZ" dirty="0"/>
              <a:t>Bc. Daniel Čech</a:t>
            </a:r>
          </a:p>
          <a:p>
            <a:r>
              <a:rPr lang="cs-CZ" dirty="0"/>
              <a:t>25. červen 2026</a:t>
            </a:r>
            <a:endParaRPr lang="en-US" dirty="0"/>
          </a:p>
          <a:p>
            <a:endParaRPr lang="en-US" dirty="0"/>
          </a:p>
        </p:txBody>
      </p:sp>
    </p:spTree>
    <p:extLst>
      <p:ext uri="{BB962C8B-B14F-4D97-AF65-F5344CB8AC3E}">
        <p14:creationId xmlns:p14="http://schemas.microsoft.com/office/powerpoint/2010/main" val="184452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794000" cy="713759"/>
          </a:xfrm>
        </p:spPr>
        <p:txBody>
          <a:bodyPr>
            <a:normAutofit/>
          </a:bodyPr>
          <a:lstStyle/>
          <a:p>
            <a:r>
              <a:rPr lang="cs-CZ" sz="3600" dirty="0"/>
              <a:t>Cíle práce</a:t>
            </a:r>
          </a:p>
        </p:txBody>
      </p:sp>
      <p:sp>
        <p:nvSpPr>
          <p:cNvPr id="3" name="Zástupný obsah 2">
            <a:extLst>
              <a:ext uri="{FF2B5EF4-FFF2-40B4-BE49-F238E27FC236}">
                <a16:creationId xmlns:a16="http://schemas.microsoft.com/office/drawing/2014/main" id="{39EDA8F6-2C31-9823-D7E4-A9E603B036F1}"/>
              </a:ext>
            </a:extLst>
          </p:cNvPr>
          <p:cNvSpPr>
            <a:spLocks noGrp="1"/>
          </p:cNvSpPr>
          <p:nvPr>
            <p:ph idx="1"/>
          </p:nvPr>
        </p:nvSpPr>
        <p:spPr>
          <a:xfrm>
            <a:off x="978400" y="2048092"/>
            <a:ext cx="7794000" cy="3528000"/>
          </a:xfrm>
        </p:spPr>
        <p:txBody>
          <a:bodyPr>
            <a:normAutofit/>
          </a:bodyPr>
          <a:lstStyle/>
          <a:p>
            <a:pPr marL="342900" indent="-342900">
              <a:buFont typeface="Arial" panose="020B0604020202020204" pitchFamily="34" charset="0"/>
              <a:buChar char="•"/>
            </a:pPr>
            <a:r>
              <a:rPr lang="cs-CZ" sz="2600" dirty="0"/>
              <a:t>konceptuální návrh automatizovaného dávkovače tekutiny s pohyblivým ramenem</a:t>
            </a:r>
          </a:p>
          <a:p>
            <a:pPr marL="342900" indent="-342900">
              <a:buFont typeface="Arial" panose="020B0604020202020204" pitchFamily="34" charset="0"/>
              <a:buChar char="•"/>
            </a:pPr>
            <a:r>
              <a:rPr lang="cs-CZ" sz="2600" dirty="0"/>
              <a:t>návrh a konstrukce HW, tvorba dokumentace</a:t>
            </a:r>
          </a:p>
          <a:p>
            <a:pPr marL="342900" indent="-342900">
              <a:buFont typeface="Arial" panose="020B0604020202020204" pitchFamily="34" charset="0"/>
              <a:buChar char="•"/>
            </a:pPr>
            <a:r>
              <a:rPr lang="cs-CZ" sz="2600" dirty="0"/>
              <a:t>návrh a zapojení elektroniky</a:t>
            </a:r>
          </a:p>
          <a:p>
            <a:pPr marL="342900" indent="-342900">
              <a:buFont typeface="Arial" panose="020B0604020202020204" pitchFamily="34" charset="0"/>
              <a:buChar char="•"/>
            </a:pPr>
            <a:r>
              <a:rPr lang="cs-CZ" sz="2600" dirty="0"/>
              <a:t>programování a implementace SW</a:t>
            </a:r>
          </a:p>
          <a:p>
            <a:pPr marL="342900" indent="-342900">
              <a:buFont typeface="Arial" panose="020B0604020202020204" pitchFamily="34" charset="0"/>
              <a:buChar char="•"/>
            </a:pPr>
            <a:r>
              <a:rPr lang="cs-CZ" sz="2600" dirty="0"/>
              <a:t>testování výsledného systému</a:t>
            </a:r>
          </a:p>
          <a:p>
            <a:pPr marL="1028666" lvl="1" indent="-342900"/>
            <a:endParaRPr lang="cs-CZ" sz="3200" dirty="0"/>
          </a:p>
        </p:txBody>
      </p:sp>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2</a:t>
            </a:fld>
            <a:endParaRPr lang="cs-CZ" dirty="0"/>
          </a:p>
        </p:txBody>
      </p:sp>
    </p:spTree>
    <p:extLst>
      <p:ext uri="{BB962C8B-B14F-4D97-AF65-F5344CB8AC3E}">
        <p14:creationId xmlns:p14="http://schemas.microsoft.com/office/powerpoint/2010/main" val="370212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071906" cy="1104067"/>
          </a:xfrm>
        </p:spPr>
        <p:txBody>
          <a:bodyPr>
            <a:normAutofit/>
          </a:bodyPr>
          <a:lstStyle/>
          <a:p>
            <a:r>
              <a:rPr lang="cs-CZ" sz="3600" dirty="0"/>
              <a:t>Konceptuální návrh</a:t>
            </a:r>
          </a:p>
        </p:txBody>
      </p:sp>
      <p:pic>
        <p:nvPicPr>
          <p:cNvPr id="6" name="Zástupný obsah 5">
            <a:extLst>
              <a:ext uri="{FF2B5EF4-FFF2-40B4-BE49-F238E27FC236}">
                <a16:creationId xmlns:a16="http://schemas.microsoft.com/office/drawing/2014/main" id="{CBCB0DFA-E6EB-ED9F-6DBF-1A95D4FFC6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32145" y="2088583"/>
            <a:ext cx="3123576" cy="4158008"/>
          </a:xfrm>
          <a:prstGeom prst="rect">
            <a:avLst/>
          </a:prstGeom>
        </p:spPr>
      </p:pic>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3</a:t>
            </a:fld>
            <a:endParaRPr lang="cs-CZ" dirty="0"/>
          </a:p>
        </p:txBody>
      </p:sp>
      <p:sp>
        <p:nvSpPr>
          <p:cNvPr id="7" name="Zástupný obsah 2">
            <a:extLst>
              <a:ext uri="{FF2B5EF4-FFF2-40B4-BE49-F238E27FC236}">
                <a16:creationId xmlns:a16="http://schemas.microsoft.com/office/drawing/2014/main" id="{407D7E5C-611D-3BC7-CB86-DD944133FB77}"/>
              </a:ext>
            </a:extLst>
          </p:cNvPr>
          <p:cNvSpPr txBox="1">
            <a:spLocks/>
          </p:cNvSpPr>
          <p:nvPr/>
        </p:nvSpPr>
        <p:spPr>
          <a:xfrm>
            <a:off x="978400" y="2438400"/>
            <a:ext cx="7794000" cy="3528000"/>
          </a:xfrm>
          <a:prstGeom prst="rect">
            <a:avLst/>
          </a:prstGeom>
        </p:spPr>
        <p:txBody>
          <a:bodyPr vert="horz" lIns="91440" tIns="45720" rIns="91440" bIns="45720" rtlCol="0">
            <a:normAutofit/>
          </a:bodyPr>
          <a:lstStyle>
            <a:lvl1pPr marL="0" indent="0" algn="l" defTabSz="914354" rtl="0" eaLnBrk="1" latinLnBrk="0" hangingPunct="1">
              <a:lnSpc>
                <a:spcPct val="90000"/>
              </a:lnSpc>
              <a:spcBef>
                <a:spcPts val="1000"/>
              </a:spcBef>
              <a:buFont typeface="Arial" panose="020B0604020202020204" pitchFamily="34" charset="0"/>
              <a:buNone/>
              <a:defRPr sz="2000" kern="3000" baseline="0">
                <a:solidFill>
                  <a:schemeClr val="tx1"/>
                </a:solidFill>
                <a:latin typeface="Technika-Bold" panose="00000600000000000000" pitchFamily="50" charset="-18"/>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Technika" panose="00000600000000000000" pitchFamily="50" charset="-18"/>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Technika" panose="00000600000000000000" pitchFamily="50" charset="-18"/>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cs-CZ" sz="2800" dirty="0"/>
          </a:p>
        </p:txBody>
      </p:sp>
      <p:sp>
        <p:nvSpPr>
          <p:cNvPr id="8" name="Zástupný obsah 2">
            <a:extLst>
              <a:ext uri="{FF2B5EF4-FFF2-40B4-BE49-F238E27FC236}">
                <a16:creationId xmlns:a16="http://schemas.microsoft.com/office/drawing/2014/main" id="{70A71455-CC3F-871B-793D-9B8C1152B6FA}"/>
              </a:ext>
            </a:extLst>
          </p:cNvPr>
          <p:cNvSpPr txBox="1">
            <a:spLocks/>
          </p:cNvSpPr>
          <p:nvPr/>
        </p:nvSpPr>
        <p:spPr>
          <a:xfrm>
            <a:off x="-3132353" y="1210055"/>
            <a:ext cx="7794000" cy="3528000"/>
          </a:xfrm>
          <a:prstGeom prst="rect">
            <a:avLst/>
          </a:prstGeom>
        </p:spPr>
        <p:txBody>
          <a:bodyPr vert="horz" lIns="91440" tIns="45720" rIns="91440" bIns="45720" rtlCol="0">
            <a:normAutofit/>
          </a:bodyPr>
          <a:lstStyle>
            <a:lvl1pPr marL="0" indent="0" algn="l" defTabSz="914354" rtl="0" eaLnBrk="1" latinLnBrk="0" hangingPunct="1">
              <a:lnSpc>
                <a:spcPct val="90000"/>
              </a:lnSpc>
              <a:spcBef>
                <a:spcPts val="1000"/>
              </a:spcBef>
              <a:buFont typeface="Arial" panose="020B0604020202020204" pitchFamily="34" charset="0"/>
              <a:buNone/>
              <a:defRPr sz="2000" kern="3000" baseline="0">
                <a:solidFill>
                  <a:schemeClr val="tx1"/>
                </a:solidFill>
                <a:latin typeface="Technika-Bold" panose="00000600000000000000" pitchFamily="50" charset="-18"/>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Technika" panose="00000600000000000000" pitchFamily="50" charset="-18"/>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Technika" panose="00000600000000000000" pitchFamily="50" charset="-18"/>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cs-CZ" sz="2800" dirty="0"/>
          </a:p>
        </p:txBody>
      </p:sp>
      <p:sp>
        <p:nvSpPr>
          <p:cNvPr id="9" name="Zástupný obsah 2">
            <a:extLst>
              <a:ext uri="{FF2B5EF4-FFF2-40B4-BE49-F238E27FC236}">
                <a16:creationId xmlns:a16="http://schemas.microsoft.com/office/drawing/2014/main" id="{9B264F74-AD68-F341-6FD9-47091569F4A9}"/>
              </a:ext>
            </a:extLst>
          </p:cNvPr>
          <p:cNvSpPr txBox="1">
            <a:spLocks/>
          </p:cNvSpPr>
          <p:nvPr/>
        </p:nvSpPr>
        <p:spPr>
          <a:xfrm>
            <a:off x="978399" y="2438400"/>
            <a:ext cx="4902447" cy="3528000"/>
          </a:xfrm>
          <a:prstGeom prst="rect">
            <a:avLst/>
          </a:prstGeom>
        </p:spPr>
        <p:txBody>
          <a:bodyPr vert="horz" lIns="91440" tIns="45720" rIns="91440" bIns="45720" rtlCol="0">
            <a:normAutofit/>
          </a:bodyPr>
          <a:lstStyle>
            <a:lvl1pPr marL="0" indent="0" algn="l" defTabSz="914354" rtl="0" eaLnBrk="1" latinLnBrk="0" hangingPunct="1">
              <a:lnSpc>
                <a:spcPct val="90000"/>
              </a:lnSpc>
              <a:spcBef>
                <a:spcPts val="1000"/>
              </a:spcBef>
              <a:buFont typeface="Arial" panose="020B0604020202020204" pitchFamily="34" charset="0"/>
              <a:buNone/>
              <a:defRPr sz="2000" kern="3000" baseline="0">
                <a:solidFill>
                  <a:schemeClr val="tx1"/>
                </a:solidFill>
                <a:latin typeface="Technika-Bold" panose="00000600000000000000" pitchFamily="50" charset="-18"/>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Technika" panose="00000600000000000000" pitchFamily="50" charset="-18"/>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Technika" panose="00000600000000000000" pitchFamily="50" charset="-18"/>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Technika" panose="00000600000000000000" pitchFamily="50" charset="-18"/>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cs-CZ" sz="2800" dirty="0"/>
              <a:t>Distribuovaná architektura</a:t>
            </a:r>
          </a:p>
          <a:p>
            <a:pPr marL="1028666" lvl="1" indent="-342900"/>
            <a:r>
              <a:rPr lang="cs-CZ" sz="2000" dirty="0" err="1"/>
              <a:t>Arduino</a:t>
            </a:r>
            <a:r>
              <a:rPr lang="cs-CZ" sz="2000" dirty="0"/>
              <a:t> UNO</a:t>
            </a:r>
          </a:p>
          <a:p>
            <a:pPr marL="1028666" lvl="1" indent="-342900"/>
            <a:r>
              <a:rPr lang="cs-CZ" sz="2000" dirty="0" err="1"/>
              <a:t>Raspberry</a:t>
            </a:r>
            <a:r>
              <a:rPr lang="cs-CZ" sz="2000" dirty="0"/>
              <a:t> </a:t>
            </a:r>
            <a:r>
              <a:rPr lang="cs-CZ" sz="2000" dirty="0" err="1"/>
              <a:t>Pi</a:t>
            </a:r>
            <a:r>
              <a:rPr lang="cs-CZ" sz="2000" dirty="0"/>
              <a:t> 4</a:t>
            </a:r>
            <a:endParaRPr lang="cs-CZ" sz="1600" dirty="0"/>
          </a:p>
          <a:p>
            <a:pPr marL="342900" indent="-342900">
              <a:buFont typeface="Arial" panose="020B0604020202020204" pitchFamily="34" charset="0"/>
              <a:buChar char="•"/>
            </a:pPr>
            <a:r>
              <a:rPr lang="cs-CZ" sz="2800" kern="3000" dirty="0">
                <a:latin typeface="Technika-Bold" panose="00000600000000000000" pitchFamily="50" charset="-18"/>
              </a:rPr>
              <a:t>HW</a:t>
            </a:r>
          </a:p>
          <a:p>
            <a:pPr marL="1028666" lvl="1" indent="-342900"/>
            <a:r>
              <a:rPr lang="cs-CZ" sz="2000" dirty="0"/>
              <a:t>volba modelu zemědělského stroje s pohyblivým ramenem</a:t>
            </a:r>
          </a:p>
          <a:p>
            <a:pPr marL="1028666" lvl="1" indent="-342900"/>
            <a:r>
              <a:rPr lang="cs-CZ" sz="2000" dirty="0"/>
              <a:t>6 pozic pro dávkování</a:t>
            </a:r>
          </a:p>
          <a:p>
            <a:pPr lvl="1" indent="0">
              <a:buNone/>
            </a:pPr>
            <a:endParaRPr lang="cs-CZ" sz="2000" dirty="0"/>
          </a:p>
        </p:txBody>
      </p:sp>
      <p:sp>
        <p:nvSpPr>
          <p:cNvPr id="10" name="TextovéPole 9">
            <a:extLst>
              <a:ext uri="{FF2B5EF4-FFF2-40B4-BE49-F238E27FC236}">
                <a16:creationId xmlns:a16="http://schemas.microsoft.com/office/drawing/2014/main" id="{86F347E5-26C2-A7C0-68D0-24DB144CE6D1}"/>
              </a:ext>
            </a:extLst>
          </p:cNvPr>
          <p:cNvSpPr txBox="1"/>
          <p:nvPr/>
        </p:nvSpPr>
        <p:spPr>
          <a:xfrm>
            <a:off x="5590612" y="6246591"/>
            <a:ext cx="3240000" cy="280501"/>
          </a:xfrm>
          <a:prstGeom prst="rect">
            <a:avLst/>
          </a:prstGeom>
          <a:noFill/>
        </p:spPr>
        <p:txBody>
          <a:bodyPr wrap="square" rtlCol="0">
            <a:spAutoFit/>
          </a:bodyPr>
          <a:lstStyle/>
          <a:p>
            <a:pPr algn="ctr"/>
            <a:r>
              <a:rPr lang="cs-CZ" sz="1200" i="1" dirty="0">
                <a:latin typeface="Times New Roman" panose="02020603050405020304" pitchFamily="18" charset="0"/>
                <a:cs typeface="Times New Roman" panose="02020603050405020304" pitchFamily="18" charset="0"/>
              </a:rPr>
              <a:t>Obr. 1 Diagram komponent</a:t>
            </a:r>
            <a:endParaRPr lang="cs-CZ"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155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681506" cy="713759"/>
          </a:xfrm>
        </p:spPr>
        <p:txBody>
          <a:bodyPr>
            <a:normAutofit/>
          </a:bodyPr>
          <a:lstStyle/>
          <a:p>
            <a:r>
              <a:rPr lang="cs-CZ" sz="4000" dirty="0"/>
              <a:t>Řešené problémy - senzorika</a:t>
            </a:r>
          </a:p>
        </p:txBody>
      </p:sp>
      <p:sp>
        <p:nvSpPr>
          <p:cNvPr id="3" name="Zástupný obsah 2">
            <a:extLst>
              <a:ext uri="{FF2B5EF4-FFF2-40B4-BE49-F238E27FC236}">
                <a16:creationId xmlns:a16="http://schemas.microsoft.com/office/drawing/2014/main" id="{39EDA8F6-2C31-9823-D7E4-A9E603B036F1}"/>
              </a:ext>
            </a:extLst>
          </p:cNvPr>
          <p:cNvSpPr>
            <a:spLocks noGrp="1"/>
          </p:cNvSpPr>
          <p:nvPr>
            <p:ph idx="1"/>
          </p:nvPr>
        </p:nvSpPr>
        <p:spPr>
          <a:xfrm>
            <a:off x="978400" y="2438221"/>
            <a:ext cx="4938306" cy="3528000"/>
          </a:xfrm>
        </p:spPr>
        <p:txBody>
          <a:bodyPr>
            <a:normAutofit/>
          </a:bodyPr>
          <a:lstStyle/>
          <a:p>
            <a:pPr marL="342900" indent="-342900">
              <a:buFont typeface="Arial" panose="020B0604020202020204" pitchFamily="34" charset="0"/>
              <a:buChar char="•"/>
            </a:pPr>
            <a:r>
              <a:rPr lang="cs-CZ" sz="2400" dirty="0"/>
              <a:t>návrh a realizace infračerveného senzoru integrovaného do podstavce nádoby</a:t>
            </a:r>
          </a:p>
          <a:p>
            <a:pPr marL="342900" indent="-342900">
              <a:buFont typeface="Arial" panose="020B0604020202020204" pitchFamily="34" charset="0"/>
              <a:buChar char="•"/>
            </a:pPr>
            <a:r>
              <a:rPr lang="cs-CZ" sz="2400" dirty="0"/>
              <a:t>generování nosné frekvence 38 kHz, snímač TSOP4838</a:t>
            </a:r>
          </a:p>
          <a:p>
            <a:pPr marL="342900" indent="-342900">
              <a:buFont typeface="Arial" panose="020B0604020202020204" pitchFamily="34" charset="0"/>
              <a:buChar char="•"/>
            </a:pPr>
            <a:r>
              <a:rPr lang="cs-CZ" sz="2400" dirty="0">
                <a:latin typeface="+mj-lt"/>
              </a:rPr>
              <a:t>eliminace rušení od Slunce</a:t>
            </a:r>
          </a:p>
          <a:p>
            <a:pPr marL="342900" indent="-342900">
              <a:buFont typeface="Arial" panose="020B0604020202020204" pitchFamily="34" charset="0"/>
              <a:buChar char="•"/>
            </a:pPr>
            <a:endParaRPr lang="cs-CZ" sz="2800" dirty="0"/>
          </a:p>
          <a:p>
            <a:pPr marL="342900" indent="-342900">
              <a:buFont typeface="Arial" panose="020B0604020202020204" pitchFamily="34" charset="0"/>
              <a:buChar char="•"/>
            </a:pPr>
            <a:endParaRPr lang="cs-CZ" sz="2800" dirty="0"/>
          </a:p>
        </p:txBody>
      </p:sp>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4</a:t>
            </a:fld>
            <a:endParaRPr lang="cs-CZ" dirty="0"/>
          </a:p>
        </p:txBody>
      </p:sp>
      <p:pic>
        <p:nvPicPr>
          <p:cNvPr id="7" name="Obrázek 6">
            <a:extLst>
              <a:ext uri="{FF2B5EF4-FFF2-40B4-BE49-F238E27FC236}">
                <a16:creationId xmlns:a16="http://schemas.microsoft.com/office/drawing/2014/main" id="{42F0D595-2E9D-B498-F645-639B41776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41" y="2229620"/>
            <a:ext cx="2827265" cy="2918713"/>
          </a:xfrm>
          <a:prstGeom prst="rect">
            <a:avLst/>
          </a:prstGeom>
        </p:spPr>
      </p:pic>
      <p:sp>
        <p:nvSpPr>
          <p:cNvPr id="8" name="TextovéPole 7">
            <a:extLst>
              <a:ext uri="{FF2B5EF4-FFF2-40B4-BE49-F238E27FC236}">
                <a16:creationId xmlns:a16="http://schemas.microsoft.com/office/drawing/2014/main" id="{7D22B755-4FC1-132A-D8CD-E2D0E57A76F8}"/>
              </a:ext>
            </a:extLst>
          </p:cNvPr>
          <p:cNvSpPr txBox="1"/>
          <p:nvPr/>
        </p:nvSpPr>
        <p:spPr>
          <a:xfrm>
            <a:off x="5626273" y="5276775"/>
            <a:ext cx="3240000" cy="280501"/>
          </a:xfrm>
          <a:prstGeom prst="rect">
            <a:avLst/>
          </a:prstGeom>
          <a:noFill/>
        </p:spPr>
        <p:txBody>
          <a:bodyPr wrap="square" rtlCol="0">
            <a:spAutoFit/>
          </a:bodyPr>
          <a:lstStyle/>
          <a:p>
            <a:pPr algn="ctr"/>
            <a:r>
              <a:rPr lang="cs-CZ" sz="1200" i="1" dirty="0">
                <a:latin typeface="Times New Roman" panose="02020603050405020304" pitchFamily="18" charset="0"/>
                <a:cs typeface="Times New Roman" panose="02020603050405020304" pitchFamily="18" charset="0"/>
              </a:rPr>
              <a:t>Obr. 2 Senzor překážky</a:t>
            </a:r>
            <a:endParaRPr lang="cs-CZ"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112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794000" cy="713759"/>
          </a:xfrm>
        </p:spPr>
        <p:txBody>
          <a:bodyPr>
            <a:normAutofit/>
          </a:bodyPr>
          <a:lstStyle/>
          <a:p>
            <a:r>
              <a:rPr lang="cs-CZ" sz="4000" dirty="0"/>
              <a:t>Řešené problémy - řízení</a:t>
            </a:r>
          </a:p>
        </p:txBody>
      </p:sp>
      <mc:AlternateContent xmlns:mc="http://schemas.openxmlformats.org/markup-compatibility/2006">
        <mc:Choice xmlns:a14="http://schemas.microsoft.com/office/drawing/2010/main" Requires="a14">
          <p:sp>
            <p:nvSpPr>
              <p:cNvPr id="3" name="Zástupný obsah 2">
                <a:extLst>
                  <a:ext uri="{FF2B5EF4-FFF2-40B4-BE49-F238E27FC236}">
                    <a16:creationId xmlns:a16="http://schemas.microsoft.com/office/drawing/2014/main" id="{39EDA8F6-2C31-9823-D7E4-A9E603B036F1}"/>
                  </a:ext>
                </a:extLst>
              </p:cNvPr>
              <p:cNvSpPr>
                <a:spLocks noGrp="1"/>
              </p:cNvSpPr>
              <p:nvPr>
                <p:ph idx="1"/>
              </p:nvPr>
            </p:nvSpPr>
            <p:spPr>
              <a:xfrm>
                <a:off x="961640" y="2438221"/>
                <a:ext cx="7220720" cy="3528000"/>
              </a:xfrm>
            </p:spPr>
            <p:txBody>
              <a:bodyPr>
                <a:normAutofit/>
              </a:bodyPr>
              <a:lstStyle/>
              <a:p>
                <a:pPr marL="342900" lvl="1" indent="-342900">
                  <a:lnSpc>
                    <a:spcPct val="80000"/>
                  </a:lnSpc>
                  <a:spcBef>
                    <a:spcPts val="1000"/>
                  </a:spcBef>
                </a:pPr>
                <a:r>
                  <a:rPr lang="cs-CZ" kern="3000" dirty="0">
                    <a:latin typeface="Technika-Bold" panose="00000600000000000000" pitchFamily="50" charset="-18"/>
                  </a:rPr>
                  <a:t>experimentální identifikace systému membránového  čerpadla ve tvaru:</a:t>
                </a:r>
              </a:p>
              <a:p>
                <a:pPr marL="0" lvl="1" indent="0">
                  <a:lnSpc>
                    <a:spcPct val="80000"/>
                  </a:lnSpc>
                  <a:spcBef>
                    <a:spcPts val="1000"/>
                  </a:spcBef>
                  <a:buNone/>
                </a:pPr>
                <a:r>
                  <a:rPr lang="cs-CZ" kern="3000" dirty="0">
                    <a:latin typeface="Technika-Bold" panose="00000600000000000000" pitchFamily="50" charset="-18"/>
                  </a:rPr>
                  <a:t>		</a:t>
                </a:r>
                <a14:m>
                  <m:oMath xmlns:m="http://schemas.openxmlformats.org/officeDocument/2006/math">
                    <m:r>
                      <a:rPr lang="cs-CZ" kern="3000" dirty="0"/>
                      <m:t>𝐺</m:t>
                    </m:r>
                    <m:d>
                      <m:dPr>
                        <m:ctrlPr>
                          <a:rPr lang="cs-CZ" kern="3000" dirty="0"/>
                        </m:ctrlPr>
                      </m:dPr>
                      <m:e>
                        <m:r>
                          <a:rPr lang="cs-CZ" kern="3000" dirty="0"/>
                          <m:t>𝑠</m:t>
                        </m:r>
                      </m:e>
                    </m:d>
                    <m:r>
                      <a:rPr lang="cs-CZ" kern="3000" dirty="0"/>
                      <m:t>=</m:t>
                    </m:r>
                    <m:f>
                      <m:fPr>
                        <m:ctrlPr>
                          <a:rPr lang="cs-CZ" kern="3000" dirty="0"/>
                        </m:ctrlPr>
                      </m:fPr>
                      <m:num>
                        <m:r>
                          <a:rPr lang="cs-CZ" kern="3000" dirty="0"/>
                          <m:t>0,13</m:t>
                        </m:r>
                      </m:num>
                      <m:den>
                        <m:r>
                          <a:rPr lang="cs-CZ" kern="3000" dirty="0"/>
                          <m:t>0,15</m:t>
                        </m:r>
                        <m:r>
                          <a:rPr lang="cs-CZ" kern="3000" dirty="0"/>
                          <m:t>𝑠</m:t>
                        </m:r>
                        <m:r>
                          <a:rPr lang="cs-CZ" kern="3000" dirty="0"/>
                          <m:t>+1</m:t>
                        </m:r>
                      </m:den>
                    </m:f>
                    <m:sSup>
                      <m:sSupPr>
                        <m:ctrlPr>
                          <a:rPr lang="cs-CZ" kern="3000" dirty="0"/>
                        </m:ctrlPr>
                      </m:sSupPr>
                      <m:e>
                        <m:r>
                          <a:rPr lang="cs-CZ" kern="3000" dirty="0"/>
                          <m:t>𝑒</m:t>
                        </m:r>
                      </m:e>
                      <m:sup>
                        <m:r>
                          <a:rPr lang="cs-CZ" kern="3000" dirty="0"/>
                          <m:t>−0,1</m:t>
                        </m:r>
                        <m:r>
                          <a:rPr lang="cs-CZ" kern="3000" dirty="0"/>
                          <m:t>𝑠</m:t>
                        </m:r>
                      </m:sup>
                    </m:sSup>
                  </m:oMath>
                </a14:m>
                <a:endParaRPr lang="cs-CZ" kern="3000" dirty="0">
                  <a:latin typeface="Technika-Bold" panose="00000600000000000000" pitchFamily="50" charset="-18"/>
                </a:endParaRPr>
              </a:p>
              <a:p>
                <a:pPr marL="342900" lvl="1" indent="-342900">
                  <a:lnSpc>
                    <a:spcPct val="80000"/>
                  </a:lnSpc>
                  <a:spcBef>
                    <a:spcPts val="1000"/>
                  </a:spcBef>
                </a:pPr>
                <a:r>
                  <a:rPr lang="cs-CZ" kern="3000" dirty="0">
                    <a:latin typeface="Technika-Bold" panose="00000600000000000000" pitchFamily="50" charset="-18"/>
                  </a:rPr>
                  <a:t>porovnání simulovaného dopředného řízení a zpětnovazební regulace</a:t>
                </a:r>
              </a:p>
            </p:txBody>
          </p:sp>
        </mc:Choice>
        <mc:Fallback>
          <p:sp>
            <p:nvSpPr>
              <p:cNvPr id="3" name="Zástupný obsah 2">
                <a:extLst>
                  <a:ext uri="{FF2B5EF4-FFF2-40B4-BE49-F238E27FC236}">
                    <a16:creationId xmlns:a16="http://schemas.microsoft.com/office/drawing/2014/main" id="{39EDA8F6-2C31-9823-D7E4-A9E603B036F1}"/>
                  </a:ext>
                </a:extLst>
              </p:cNvPr>
              <p:cNvSpPr>
                <a:spLocks noGrp="1" noRot="1" noChangeAspect="1" noMove="1" noResize="1" noEditPoints="1" noAdjustHandles="1" noChangeArrowheads="1" noChangeShapeType="1" noTextEdit="1"/>
              </p:cNvSpPr>
              <p:nvPr>
                <p:ph idx="1"/>
              </p:nvPr>
            </p:nvSpPr>
            <p:spPr>
              <a:xfrm>
                <a:off x="961640" y="2438221"/>
                <a:ext cx="7220720" cy="3528000"/>
              </a:xfrm>
              <a:blipFill>
                <a:blip r:embed="rId2"/>
                <a:stretch>
                  <a:fillRect l="-1182" t="-3454" r="-2196"/>
                </a:stretch>
              </a:blipFill>
            </p:spPr>
            <p:txBody>
              <a:bodyPr/>
              <a:lstStyle/>
              <a:p>
                <a:r>
                  <a:rPr lang="cs-CZ">
                    <a:noFill/>
                  </a:rPr>
                  <a:t> </a:t>
                </a:r>
              </a:p>
            </p:txBody>
          </p:sp>
        </mc:Fallback>
      </mc:AlternateContent>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5</a:t>
            </a:fld>
            <a:endParaRPr lang="cs-CZ" dirty="0"/>
          </a:p>
        </p:txBody>
      </p:sp>
    </p:spTree>
    <p:extLst>
      <p:ext uri="{BB962C8B-B14F-4D97-AF65-F5344CB8AC3E}">
        <p14:creationId xmlns:p14="http://schemas.microsoft.com/office/powerpoint/2010/main" val="713220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170C5-33E9-C296-14CB-81C6EFA90290}"/>
            </a:ext>
          </a:extLst>
        </p:cNvPr>
        <p:cNvGrpSpPr/>
        <p:nvPr/>
      </p:nvGrpSpPr>
      <p:grpSpPr>
        <a:xfrm>
          <a:off x="0" y="0"/>
          <a:ext cx="0" cy="0"/>
          <a:chOff x="0" y="0"/>
          <a:chExt cx="0" cy="0"/>
        </a:xfrm>
      </p:grpSpPr>
      <p:sp>
        <p:nvSpPr>
          <p:cNvPr id="4" name="Zástupný symbol pro číslo snímku 3">
            <a:extLst>
              <a:ext uri="{FF2B5EF4-FFF2-40B4-BE49-F238E27FC236}">
                <a16:creationId xmlns:a16="http://schemas.microsoft.com/office/drawing/2014/main" id="{21E54DF2-53F8-DE8F-F727-B4089DC0698E}"/>
              </a:ext>
            </a:extLst>
          </p:cNvPr>
          <p:cNvSpPr>
            <a:spLocks noGrp="1"/>
          </p:cNvSpPr>
          <p:nvPr>
            <p:ph type="sldNum" sz="quarter" idx="11"/>
          </p:nvPr>
        </p:nvSpPr>
        <p:spPr/>
        <p:txBody>
          <a:bodyPr/>
          <a:lstStyle/>
          <a:p>
            <a:fld id="{EE49E6E8-1AE2-4E17-9D02-B0051A1FAF88}" type="slidenum">
              <a:rPr lang="cs-CZ" smtClean="0"/>
              <a:t>6</a:t>
            </a:fld>
            <a:endParaRPr lang="cs-CZ" dirty="0"/>
          </a:p>
        </p:txBody>
      </p:sp>
      <p:pic>
        <p:nvPicPr>
          <p:cNvPr id="20" name="Zástupný obsah 19">
            <a:extLst>
              <a:ext uri="{FF2B5EF4-FFF2-40B4-BE49-F238E27FC236}">
                <a16:creationId xmlns:a16="http://schemas.microsoft.com/office/drawing/2014/main" id="{D4954685-2C86-4067-7CEA-0180C2896C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42260" y="1218089"/>
            <a:ext cx="7459480" cy="4746942"/>
          </a:xfrm>
          <a:prstGeom prst="rect">
            <a:avLst/>
          </a:prstGeom>
        </p:spPr>
      </p:pic>
      <p:sp>
        <p:nvSpPr>
          <p:cNvPr id="21" name="TextovéPole 20">
            <a:extLst>
              <a:ext uri="{FF2B5EF4-FFF2-40B4-BE49-F238E27FC236}">
                <a16:creationId xmlns:a16="http://schemas.microsoft.com/office/drawing/2014/main" id="{0C91F45A-7A66-21C3-E051-6D917BCF8E2B}"/>
              </a:ext>
            </a:extLst>
          </p:cNvPr>
          <p:cNvSpPr txBox="1"/>
          <p:nvPr/>
        </p:nvSpPr>
        <p:spPr>
          <a:xfrm>
            <a:off x="2878080" y="5965031"/>
            <a:ext cx="3387840" cy="276999"/>
          </a:xfrm>
          <a:prstGeom prst="rect">
            <a:avLst/>
          </a:prstGeom>
          <a:noFill/>
        </p:spPr>
        <p:txBody>
          <a:bodyPr wrap="square" rtlCol="0">
            <a:spAutoFit/>
          </a:bodyPr>
          <a:lstStyle/>
          <a:p>
            <a:pPr algn="ctr"/>
            <a:r>
              <a:rPr lang="cs-CZ" sz="1200" i="1" dirty="0">
                <a:latin typeface="Times New Roman" panose="02020603050405020304" pitchFamily="18" charset="0"/>
                <a:cs typeface="Times New Roman" panose="02020603050405020304" pitchFamily="18" charset="0"/>
              </a:rPr>
              <a:t>Obr. 3 Srovnání průběhů regulace a vlivu poruchy</a:t>
            </a:r>
            <a:endParaRPr lang="cs-CZ"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05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170C5-33E9-C296-14CB-81C6EFA9029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2AE0F43-6030-62FD-946D-76D2A1B81BBB}"/>
              </a:ext>
            </a:extLst>
          </p:cNvPr>
          <p:cNvSpPr>
            <a:spLocks noGrp="1"/>
          </p:cNvSpPr>
          <p:nvPr>
            <p:ph type="title"/>
          </p:nvPr>
        </p:nvSpPr>
        <p:spPr>
          <a:xfrm>
            <a:off x="978400" y="1334333"/>
            <a:ext cx="7794000" cy="675622"/>
          </a:xfrm>
        </p:spPr>
        <p:txBody>
          <a:bodyPr>
            <a:normAutofit fontScale="90000"/>
          </a:bodyPr>
          <a:lstStyle/>
          <a:p>
            <a:r>
              <a:rPr lang="cs-CZ" sz="4000" dirty="0"/>
              <a:t>Implementované dopředné řízení</a:t>
            </a:r>
          </a:p>
        </p:txBody>
      </p:sp>
      <p:sp>
        <p:nvSpPr>
          <p:cNvPr id="3" name="Zástupný obsah 2">
            <a:extLst>
              <a:ext uri="{FF2B5EF4-FFF2-40B4-BE49-F238E27FC236}">
                <a16:creationId xmlns:a16="http://schemas.microsoft.com/office/drawing/2014/main" id="{59ECAC1C-7509-C0BA-1229-8FBD782AE77C}"/>
              </a:ext>
            </a:extLst>
          </p:cNvPr>
          <p:cNvSpPr>
            <a:spLocks noGrp="1"/>
          </p:cNvSpPr>
          <p:nvPr>
            <p:ph idx="1"/>
          </p:nvPr>
        </p:nvSpPr>
        <p:spPr>
          <a:xfrm>
            <a:off x="978400" y="2115138"/>
            <a:ext cx="7794000" cy="3728313"/>
          </a:xfrm>
        </p:spPr>
        <p:txBody>
          <a:bodyPr>
            <a:normAutofit/>
          </a:bodyPr>
          <a:lstStyle/>
          <a:p>
            <a:pPr marL="342900" indent="-342900">
              <a:buFont typeface="Arial" panose="020B0604020202020204" pitchFamily="34" charset="0"/>
              <a:buChar char="•"/>
            </a:pPr>
            <a:r>
              <a:rPr lang="cs-CZ" sz="2400" dirty="0"/>
              <a:t>dosažení požadované dynamiky i přesnosti bez nutnosti integrace nákladného snímače průtoku</a:t>
            </a:r>
          </a:p>
          <a:p>
            <a:pPr marL="342900" indent="-342900">
              <a:buFont typeface="Arial" panose="020B0604020202020204" pitchFamily="34" charset="0"/>
              <a:buChar char="•"/>
            </a:pPr>
            <a:r>
              <a:rPr lang="cs-CZ" sz="2400" dirty="0"/>
              <a:t>kompenzace nelinearit (dopravní zpoždění, asymetrické chování)</a:t>
            </a:r>
          </a:p>
          <a:p>
            <a:pPr marL="342900" indent="-342900">
              <a:buFont typeface="Arial" panose="020B0604020202020204" pitchFamily="34" charset="0"/>
              <a:buChar char="•"/>
            </a:pPr>
            <a:r>
              <a:rPr lang="cs-CZ" sz="2400" dirty="0"/>
              <a:t>kalibrační tabulka pro zvolený pracovní bod o 43 bodech, krok 50 </a:t>
            </a:r>
            <a:r>
              <a:rPr lang="cs-CZ" sz="2400" dirty="0" err="1"/>
              <a:t>ms</a:t>
            </a:r>
            <a:endParaRPr lang="cs-CZ" sz="2400" dirty="0"/>
          </a:p>
          <a:p>
            <a:pPr marL="342900" indent="-342900">
              <a:buFont typeface="Arial" panose="020B0604020202020204" pitchFamily="34" charset="0"/>
              <a:buChar char="•"/>
            </a:pPr>
            <a:r>
              <a:rPr lang="cs-CZ" sz="2400" dirty="0"/>
              <a:t>po částech lineární interpolace pomocí knihovny </a:t>
            </a:r>
            <a:r>
              <a:rPr lang="cs-CZ" sz="2400" dirty="0" err="1"/>
              <a:t>NumPy</a:t>
            </a:r>
            <a:r>
              <a:rPr lang="cs-CZ" sz="2400" dirty="0"/>
              <a:t>, do MCU posílán pouze výsledný čas</a:t>
            </a:r>
          </a:p>
        </p:txBody>
      </p:sp>
      <p:sp>
        <p:nvSpPr>
          <p:cNvPr id="4" name="Zástupný symbol pro číslo snímku 3">
            <a:extLst>
              <a:ext uri="{FF2B5EF4-FFF2-40B4-BE49-F238E27FC236}">
                <a16:creationId xmlns:a16="http://schemas.microsoft.com/office/drawing/2014/main" id="{21E54DF2-53F8-DE8F-F727-B4089DC0698E}"/>
              </a:ext>
            </a:extLst>
          </p:cNvPr>
          <p:cNvSpPr>
            <a:spLocks noGrp="1"/>
          </p:cNvSpPr>
          <p:nvPr>
            <p:ph type="sldNum" sz="quarter" idx="11"/>
          </p:nvPr>
        </p:nvSpPr>
        <p:spPr/>
        <p:txBody>
          <a:bodyPr/>
          <a:lstStyle/>
          <a:p>
            <a:fld id="{EE49E6E8-1AE2-4E17-9D02-B0051A1FAF88}" type="slidenum">
              <a:rPr lang="cs-CZ" smtClean="0"/>
              <a:t>7</a:t>
            </a:fld>
            <a:endParaRPr lang="cs-CZ" dirty="0"/>
          </a:p>
        </p:txBody>
      </p:sp>
    </p:spTree>
    <p:extLst>
      <p:ext uri="{BB962C8B-B14F-4D97-AF65-F5344CB8AC3E}">
        <p14:creationId xmlns:p14="http://schemas.microsoft.com/office/powerpoint/2010/main" val="4109002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794000" cy="713759"/>
          </a:xfrm>
        </p:spPr>
        <p:txBody>
          <a:bodyPr>
            <a:normAutofit/>
          </a:bodyPr>
          <a:lstStyle/>
          <a:p>
            <a:r>
              <a:rPr lang="cs-CZ" sz="3600" dirty="0"/>
              <a:t>SW architektura MCU</a:t>
            </a:r>
          </a:p>
        </p:txBody>
      </p:sp>
      <p:sp>
        <p:nvSpPr>
          <p:cNvPr id="3" name="Zástupný obsah 2">
            <a:extLst>
              <a:ext uri="{FF2B5EF4-FFF2-40B4-BE49-F238E27FC236}">
                <a16:creationId xmlns:a16="http://schemas.microsoft.com/office/drawing/2014/main" id="{39EDA8F6-2C31-9823-D7E4-A9E603B036F1}"/>
              </a:ext>
            </a:extLst>
          </p:cNvPr>
          <p:cNvSpPr>
            <a:spLocks noGrp="1"/>
          </p:cNvSpPr>
          <p:nvPr>
            <p:ph idx="1"/>
          </p:nvPr>
        </p:nvSpPr>
        <p:spPr>
          <a:xfrm>
            <a:off x="978400" y="2415645"/>
            <a:ext cx="7794000" cy="4013074"/>
          </a:xfrm>
        </p:spPr>
        <p:txBody>
          <a:bodyPr>
            <a:normAutofit/>
          </a:bodyPr>
          <a:lstStyle/>
          <a:p>
            <a:pPr marL="342900" indent="-342900">
              <a:buFont typeface="Arial" panose="020B0604020202020204" pitchFamily="34" charset="0"/>
              <a:buChar char="•"/>
            </a:pPr>
            <a:r>
              <a:rPr lang="cs-CZ" sz="2400" dirty="0"/>
              <a:t>neblokující konečný stavový automat </a:t>
            </a:r>
          </a:p>
          <a:p>
            <a:pPr marL="342900" indent="-342900">
              <a:buFont typeface="Arial" panose="020B0604020202020204" pitchFamily="34" charset="0"/>
              <a:buChar char="•"/>
            </a:pPr>
            <a:r>
              <a:rPr lang="cs-CZ" sz="2400" dirty="0"/>
              <a:t>generování nosné frekvence 38 kHz (přímá konfigurace časovače a </a:t>
            </a:r>
            <a:r>
              <a:rPr lang="cs-CZ" sz="2400" dirty="0" err="1"/>
              <a:t>předděličky</a:t>
            </a:r>
            <a:r>
              <a:rPr lang="cs-CZ" sz="2400" dirty="0"/>
              <a:t>)</a:t>
            </a:r>
          </a:p>
          <a:p>
            <a:pPr marL="342900" indent="-342900">
              <a:buFont typeface="Arial" panose="020B0604020202020204" pitchFamily="34" charset="0"/>
              <a:buChar char="•"/>
            </a:pPr>
            <a:r>
              <a:rPr lang="cs-CZ" sz="2400" dirty="0"/>
              <a:t>asynchronní obsluha periferií</a:t>
            </a:r>
          </a:p>
          <a:p>
            <a:pPr marL="342900" indent="-342900">
              <a:buFont typeface="Arial" panose="020B0604020202020204" pitchFamily="34" charset="0"/>
              <a:buChar char="•"/>
            </a:pPr>
            <a:r>
              <a:rPr lang="cs-CZ" sz="2400" dirty="0" err="1"/>
              <a:t>Interrupt</a:t>
            </a:r>
            <a:r>
              <a:rPr lang="cs-CZ" sz="2400" dirty="0"/>
              <a:t> </a:t>
            </a:r>
            <a:r>
              <a:rPr lang="cs-CZ" sz="2400" dirty="0" err="1"/>
              <a:t>Service</a:t>
            </a:r>
            <a:r>
              <a:rPr lang="cs-CZ" sz="2400" dirty="0"/>
              <a:t> </a:t>
            </a:r>
            <a:r>
              <a:rPr lang="cs-CZ" sz="2400" dirty="0" err="1"/>
              <a:t>Routine</a:t>
            </a:r>
            <a:r>
              <a:rPr lang="cs-CZ" sz="2400" dirty="0"/>
              <a:t> při stisku </a:t>
            </a:r>
            <a:r>
              <a:rPr lang="cs-CZ" sz="2400" dirty="0" err="1"/>
              <a:t>Emergency</a:t>
            </a:r>
            <a:r>
              <a:rPr lang="cs-CZ" sz="2400" dirty="0"/>
              <a:t> Stop </a:t>
            </a:r>
          </a:p>
          <a:p>
            <a:pPr marL="342900" indent="-342900">
              <a:buFont typeface="Arial" panose="020B0604020202020204" pitchFamily="34" charset="0"/>
              <a:buChar char="•"/>
            </a:pPr>
            <a:r>
              <a:rPr lang="cs-CZ" sz="2400" dirty="0" err="1"/>
              <a:t>Watchdog</a:t>
            </a:r>
            <a:r>
              <a:rPr lang="cs-CZ" sz="2400" dirty="0"/>
              <a:t> </a:t>
            </a:r>
            <a:r>
              <a:rPr lang="cs-CZ" sz="2400" dirty="0" err="1"/>
              <a:t>Timer</a:t>
            </a:r>
            <a:r>
              <a:rPr lang="cs-CZ" sz="2400" dirty="0"/>
              <a:t> proti zamrznutí programu</a:t>
            </a:r>
          </a:p>
          <a:p>
            <a:pPr marL="342900" indent="-342900">
              <a:buFont typeface="Arial" panose="020B0604020202020204" pitchFamily="34" charset="0"/>
              <a:buChar char="•"/>
            </a:pPr>
            <a:r>
              <a:rPr lang="cs-CZ" sz="2400" dirty="0"/>
              <a:t>komunikace po sériové lince (UART)</a:t>
            </a:r>
          </a:p>
        </p:txBody>
      </p:sp>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8</a:t>
            </a:fld>
            <a:endParaRPr lang="cs-CZ" dirty="0"/>
          </a:p>
        </p:txBody>
      </p:sp>
    </p:spTree>
    <p:extLst>
      <p:ext uri="{BB962C8B-B14F-4D97-AF65-F5344CB8AC3E}">
        <p14:creationId xmlns:p14="http://schemas.microsoft.com/office/powerpoint/2010/main" val="300031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8673600" cy="713759"/>
          </a:xfrm>
        </p:spPr>
        <p:txBody>
          <a:bodyPr>
            <a:normAutofit/>
          </a:bodyPr>
          <a:lstStyle/>
          <a:p>
            <a:r>
              <a:rPr lang="cs-CZ" sz="3600" dirty="0"/>
              <a:t>Komunikační protokol a </a:t>
            </a:r>
            <a:r>
              <a:rPr lang="cs-CZ" sz="3600" dirty="0" err="1"/>
              <a:t>backend</a:t>
            </a:r>
            <a:endParaRPr lang="cs-CZ" sz="3600" dirty="0"/>
          </a:p>
        </p:txBody>
      </p:sp>
      <p:sp>
        <p:nvSpPr>
          <p:cNvPr id="3" name="Zástupný obsah 2">
            <a:extLst>
              <a:ext uri="{FF2B5EF4-FFF2-40B4-BE49-F238E27FC236}">
                <a16:creationId xmlns:a16="http://schemas.microsoft.com/office/drawing/2014/main" id="{39EDA8F6-2C31-9823-D7E4-A9E603B036F1}"/>
              </a:ext>
            </a:extLst>
          </p:cNvPr>
          <p:cNvSpPr>
            <a:spLocks noGrp="1"/>
          </p:cNvSpPr>
          <p:nvPr>
            <p:ph idx="1"/>
          </p:nvPr>
        </p:nvSpPr>
        <p:spPr>
          <a:xfrm>
            <a:off x="978400" y="2048092"/>
            <a:ext cx="7794000" cy="3528000"/>
          </a:xfrm>
        </p:spPr>
        <p:txBody>
          <a:bodyPr>
            <a:noAutofit/>
          </a:bodyPr>
          <a:lstStyle/>
          <a:p>
            <a:pPr marL="342900" indent="-342900">
              <a:buFont typeface="Arial" panose="020B0604020202020204" pitchFamily="34" charset="0"/>
              <a:buChar char="•"/>
            </a:pPr>
            <a:r>
              <a:rPr lang="cs-CZ" sz="2400" dirty="0"/>
              <a:t>sériové rozhraní – UART</a:t>
            </a:r>
          </a:p>
          <a:p>
            <a:pPr marL="342900" indent="-342900">
              <a:buFont typeface="Arial" panose="020B0604020202020204" pitchFamily="34" charset="0"/>
              <a:buChar char="•"/>
            </a:pPr>
            <a:r>
              <a:rPr lang="cs-CZ" sz="2400" dirty="0"/>
              <a:t>textově orientovaný protokol</a:t>
            </a:r>
          </a:p>
          <a:p>
            <a:pPr marL="342900" indent="-342900">
              <a:buFont typeface="Arial" panose="020B0604020202020204" pitchFamily="34" charset="0"/>
              <a:buChar char="•"/>
            </a:pPr>
            <a:r>
              <a:rPr lang="cs-CZ" sz="2400" dirty="0"/>
              <a:t>$ &lt;PAYLOAD&gt; * &lt;CHECKSUM&gt; \n</a:t>
            </a:r>
          </a:p>
          <a:p>
            <a:pPr marL="342900" indent="-342900">
              <a:buFont typeface="Arial" panose="020B0604020202020204" pitchFamily="34" charset="0"/>
              <a:buChar char="•"/>
            </a:pPr>
            <a:r>
              <a:rPr lang="cs-CZ" sz="2400" dirty="0" err="1"/>
              <a:t>Longitudinal</a:t>
            </a:r>
            <a:r>
              <a:rPr lang="cs-CZ" sz="2400" dirty="0"/>
              <a:t> </a:t>
            </a:r>
            <a:r>
              <a:rPr lang="cs-CZ" sz="2400" dirty="0" err="1"/>
              <a:t>Redundancy</a:t>
            </a:r>
            <a:r>
              <a:rPr lang="cs-CZ" sz="2400" dirty="0"/>
              <a:t> </a:t>
            </a:r>
            <a:r>
              <a:rPr lang="cs-CZ" sz="2400" dirty="0" err="1"/>
              <a:t>Check</a:t>
            </a:r>
            <a:r>
              <a:rPr lang="cs-CZ" sz="2400" dirty="0"/>
              <a:t> pomocí bitového XOR</a:t>
            </a:r>
          </a:p>
          <a:p>
            <a:pPr marL="342900" indent="-342900">
              <a:buFont typeface="Arial" panose="020B0604020202020204" pitchFamily="34" charset="0"/>
              <a:buChar char="•"/>
            </a:pPr>
            <a:r>
              <a:rPr lang="cs-CZ" sz="2400" dirty="0"/>
              <a:t>potvrzení či odmítnutí zprávy (ACK, NACK)</a:t>
            </a:r>
          </a:p>
          <a:p>
            <a:pPr marL="342900" indent="-342900">
              <a:buFont typeface="Arial" panose="020B0604020202020204" pitchFamily="34" charset="0"/>
              <a:buChar char="•"/>
            </a:pPr>
            <a:r>
              <a:rPr lang="cs-CZ" sz="2400" dirty="0" err="1"/>
              <a:t>heartbeat</a:t>
            </a:r>
            <a:r>
              <a:rPr lang="cs-CZ" sz="2400" dirty="0"/>
              <a:t> mechanismus </a:t>
            </a:r>
          </a:p>
          <a:p>
            <a:pPr marL="342900" indent="-342900">
              <a:buFont typeface="Arial" panose="020B0604020202020204" pitchFamily="34" charset="0"/>
              <a:buChar char="•"/>
            </a:pPr>
            <a:r>
              <a:rPr lang="cs-CZ" sz="2400" dirty="0" err="1"/>
              <a:t>vícevláknová</a:t>
            </a:r>
            <a:r>
              <a:rPr lang="cs-CZ" sz="2400" dirty="0"/>
              <a:t> aplikace – REST API a komunikace s MCU</a:t>
            </a:r>
          </a:p>
        </p:txBody>
      </p:sp>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9</a:t>
            </a:fld>
            <a:endParaRPr lang="cs-CZ" dirty="0"/>
          </a:p>
        </p:txBody>
      </p:sp>
    </p:spTree>
    <p:extLst>
      <p:ext uri="{BB962C8B-B14F-4D97-AF65-F5344CB8AC3E}">
        <p14:creationId xmlns:p14="http://schemas.microsoft.com/office/powerpoint/2010/main" val="4075895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4D5505D-6B71-FF9A-0EBC-F206FAF9E7AE}"/>
              </a:ext>
            </a:extLst>
          </p:cNvPr>
          <p:cNvSpPr>
            <a:spLocks noGrp="1"/>
          </p:cNvSpPr>
          <p:nvPr>
            <p:ph type="title"/>
          </p:nvPr>
        </p:nvSpPr>
        <p:spPr>
          <a:xfrm>
            <a:off x="978400" y="1334333"/>
            <a:ext cx="7794000" cy="713759"/>
          </a:xfrm>
        </p:spPr>
        <p:txBody>
          <a:bodyPr>
            <a:normAutofit fontScale="90000"/>
          </a:bodyPr>
          <a:lstStyle/>
          <a:p>
            <a:r>
              <a:rPr lang="cs-CZ" sz="4000" dirty="0"/>
              <a:t>Uživatelské rozhraní a ergonomie</a:t>
            </a:r>
          </a:p>
        </p:txBody>
      </p:sp>
      <p:sp>
        <p:nvSpPr>
          <p:cNvPr id="4" name="Zástupný symbol pro číslo snímku 3">
            <a:extLst>
              <a:ext uri="{FF2B5EF4-FFF2-40B4-BE49-F238E27FC236}">
                <a16:creationId xmlns:a16="http://schemas.microsoft.com/office/drawing/2014/main" id="{33D952EF-CFDC-33DD-8943-D30476096F46}"/>
              </a:ext>
            </a:extLst>
          </p:cNvPr>
          <p:cNvSpPr>
            <a:spLocks noGrp="1"/>
          </p:cNvSpPr>
          <p:nvPr>
            <p:ph type="sldNum" sz="quarter" idx="11"/>
          </p:nvPr>
        </p:nvSpPr>
        <p:spPr/>
        <p:txBody>
          <a:bodyPr/>
          <a:lstStyle/>
          <a:p>
            <a:fld id="{EE49E6E8-1AE2-4E17-9D02-B0051A1FAF88}" type="slidenum">
              <a:rPr lang="cs-CZ" smtClean="0"/>
              <a:t>10</a:t>
            </a:fld>
            <a:endParaRPr lang="cs-CZ" dirty="0"/>
          </a:p>
        </p:txBody>
      </p:sp>
      <p:sp>
        <p:nvSpPr>
          <p:cNvPr id="3" name="Zástupný obsah 2">
            <a:extLst>
              <a:ext uri="{FF2B5EF4-FFF2-40B4-BE49-F238E27FC236}">
                <a16:creationId xmlns:a16="http://schemas.microsoft.com/office/drawing/2014/main" id="{31437AAA-CBE5-B31E-F7A8-B342BB6DAC46}"/>
              </a:ext>
            </a:extLst>
          </p:cNvPr>
          <p:cNvSpPr>
            <a:spLocks noGrp="1"/>
          </p:cNvSpPr>
          <p:nvPr>
            <p:ph idx="1"/>
          </p:nvPr>
        </p:nvSpPr>
        <p:spPr>
          <a:xfrm>
            <a:off x="978400" y="2048092"/>
            <a:ext cx="7794000" cy="3528000"/>
          </a:xfrm>
        </p:spPr>
        <p:txBody>
          <a:bodyPr>
            <a:normAutofit/>
          </a:bodyPr>
          <a:lstStyle/>
          <a:p>
            <a:pPr marL="342900" indent="-342900">
              <a:buFont typeface="Arial" panose="020B0604020202020204" pitchFamily="34" charset="0"/>
              <a:buChar char="•"/>
            </a:pPr>
            <a:r>
              <a:rPr lang="cs-CZ" sz="2400" dirty="0"/>
              <a:t>jednostránková webová aplikace </a:t>
            </a:r>
          </a:p>
          <a:p>
            <a:pPr marL="342900" indent="-342900">
              <a:buFont typeface="Arial" panose="020B0604020202020204" pitchFamily="34" charset="0"/>
              <a:buChar char="•"/>
            </a:pPr>
            <a:r>
              <a:rPr lang="cs-CZ" sz="2400" dirty="0"/>
              <a:t>7“ dotykový displej</a:t>
            </a:r>
          </a:p>
          <a:p>
            <a:pPr marL="342900" indent="-342900">
              <a:buFont typeface="Arial" panose="020B0604020202020204" pitchFamily="34" charset="0"/>
              <a:buChar char="•"/>
            </a:pPr>
            <a:r>
              <a:rPr lang="cs-CZ" sz="2400" dirty="0"/>
              <a:t>10 Hz </a:t>
            </a:r>
            <a:r>
              <a:rPr lang="cs-CZ" sz="2400" dirty="0" err="1"/>
              <a:t>polling</a:t>
            </a:r>
            <a:r>
              <a:rPr lang="cs-CZ" sz="2400" dirty="0"/>
              <a:t> pro plynulé vykreslování </a:t>
            </a:r>
          </a:p>
          <a:p>
            <a:pPr marL="342900" indent="-342900">
              <a:buFont typeface="Arial" panose="020B0604020202020204" pitchFamily="34" charset="0"/>
              <a:buChar char="•"/>
            </a:pPr>
            <a:r>
              <a:rPr lang="cs-CZ" sz="2400" dirty="0"/>
              <a:t>režim kalibrace, </a:t>
            </a:r>
            <a:r>
              <a:rPr lang="cs-CZ" sz="2400" dirty="0" err="1"/>
              <a:t>Emergency</a:t>
            </a:r>
            <a:r>
              <a:rPr lang="cs-CZ" sz="2400" dirty="0"/>
              <a:t> Stop</a:t>
            </a:r>
          </a:p>
          <a:p>
            <a:pPr marL="342900" indent="-342900">
              <a:buFont typeface="Arial" panose="020B0604020202020204" pitchFamily="34" charset="0"/>
              <a:buChar char="•"/>
            </a:pPr>
            <a:r>
              <a:rPr lang="cs-CZ" sz="2400" dirty="0"/>
              <a:t>HMI testováno </a:t>
            </a:r>
            <a:r>
              <a:rPr lang="cs-CZ" sz="2400" dirty="0" err="1"/>
              <a:t>eyetrackingem</a:t>
            </a:r>
            <a:r>
              <a:rPr lang="cs-CZ" sz="2400" dirty="0"/>
              <a:t> formou pilotní případové studie</a:t>
            </a:r>
          </a:p>
          <a:p>
            <a:pPr marL="342900" indent="-342900">
              <a:buFont typeface="Arial" panose="020B0604020202020204" pitchFamily="34" charset="0"/>
              <a:buChar char="•"/>
            </a:pPr>
            <a:endParaRPr lang="cs-CZ" sz="2800" dirty="0"/>
          </a:p>
        </p:txBody>
      </p:sp>
    </p:spTree>
    <p:extLst>
      <p:ext uri="{BB962C8B-B14F-4D97-AF65-F5344CB8AC3E}">
        <p14:creationId xmlns:p14="http://schemas.microsoft.com/office/powerpoint/2010/main" val="360385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5F99-D5BC-16A1-226A-101858A3BCD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825C7A5-A637-3D23-A78E-949F1B92AF4D}"/>
              </a:ext>
            </a:extLst>
          </p:cNvPr>
          <p:cNvSpPr>
            <a:spLocks noGrp="1"/>
          </p:cNvSpPr>
          <p:nvPr>
            <p:ph type="title"/>
          </p:nvPr>
        </p:nvSpPr>
        <p:spPr>
          <a:xfrm>
            <a:off x="978400" y="1334333"/>
            <a:ext cx="7794000" cy="1087934"/>
          </a:xfrm>
        </p:spPr>
        <p:txBody>
          <a:bodyPr>
            <a:normAutofit/>
          </a:bodyPr>
          <a:lstStyle/>
          <a:p>
            <a:r>
              <a:rPr lang="cs-CZ" sz="4000" dirty="0"/>
              <a:t>Závěr</a:t>
            </a:r>
          </a:p>
        </p:txBody>
      </p:sp>
      <p:sp>
        <p:nvSpPr>
          <p:cNvPr id="3" name="Zástupný obsah 2">
            <a:extLst>
              <a:ext uri="{FF2B5EF4-FFF2-40B4-BE49-F238E27FC236}">
                <a16:creationId xmlns:a16="http://schemas.microsoft.com/office/drawing/2014/main" id="{FB595B99-0B24-9773-BF9B-87AD9BDC8A7E}"/>
              </a:ext>
            </a:extLst>
          </p:cNvPr>
          <p:cNvSpPr>
            <a:spLocks noGrp="1"/>
          </p:cNvSpPr>
          <p:nvPr>
            <p:ph idx="1"/>
          </p:nvPr>
        </p:nvSpPr>
        <p:spPr>
          <a:xfrm>
            <a:off x="978400" y="2115137"/>
            <a:ext cx="7794000" cy="4175595"/>
          </a:xfrm>
        </p:spPr>
        <p:txBody>
          <a:bodyPr>
            <a:normAutofit lnSpcReduction="10000"/>
          </a:bodyPr>
          <a:lstStyle/>
          <a:p>
            <a:pPr marL="342900" indent="-342900">
              <a:buFont typeface="Arial" panose="020B0604020202020204" pitchFamily="34" charset="0"/>
              <a:buChar char="•"/>
            </a:pPr>
            <a:r>
              <a:rPr lang="cs-CZ" sz="2400" dirty="0"/>
              <a:t>vytvořen prototyp automatizovaného dávkovače</a:t>
            </a:r>
          </a:p>
          <a:p>
            <a:pPr marL="342900" indent="-342900">
              <a:buFont typeface="Arial" panose="020B0604020202020204" pitchFamily="34" charset="0"/>
              <a:buChar char="•"/>
            </a:pPr>
            <a:r>
              <a:rPr lang="cs-CZ" sz="2400" dirty="0"/>
              <a:t>tvorba výkresové dokumentace a elektro schématu</a:t>
            </a:r>
          </a:p>
          <a:p>
            <a:pPr marL="342900" indent="-342900">
              <a:buFont typeface="Arial" panose="020B0604020202020204" pitchFamily="34" charset="0"/>
              <a:buChar char="•"/>
            </a:pPr>
            <a:r>
              <a:rPr lang="cs-CZ" sz="2400" dirty="0"/>
              <a:t>návrh vlastního senzoru a komunikačního protokolu</a:t>
            </a:r>
          </a:p>
          <a:p>
            <a:pPr marL="342900" indent="-342900">
              <a:buFont typeface="Arial" panose="020B0604020202020204" pitchFamily="34" charset="0"/>
              <a:buChar char="•"/>
            </a:pPr>
            <a:r>
              <a:rPr lang="cs-CZ" sz="2400" dirty="0"/>
              <a:t>firmware pro </a:t>
            </a:r>
            <a:r>
              <a:rPr lang="cs-CZ" sz="2400" dirty="0" err="1"/>
              <a:t>Arduino</a:t>
            </a:r>
            <a:r>
              <a:rPr lang="cs-CZ" sz="2400" dirty="0"/>
              <a:t>, </a:t>
            </a:r>
            <a:r>
              <a:rPr lang="cs-CZ" sz="2400" dirty="0" err="1"/>
              <a:t>Flask</a:t>
            </a:r>
            <a:r>
              <a:rPr lang="cs-CZ" sz="2400" dirty="0"/>
              <a:t> webová aplikace</a:t>
            </a:r>
          </a:p>
          <a:p>
            <a:pPr marL="342900" indent="-342900">
              <a:buFont typeface="Arial" panose="020B0604020202020204" pitchFamily="34" charset="0"/>
              <a:buChar char="•"/>
            </a:pPr>
            <a:r>
              <a:rPr lang="cs-CZ" sz="2400" dirty="0"/>
              <a:t>implementace HMI do 7“ dotykového displeje</a:t>
            </a:r>
          </a:p>
          <a:p>
            <a:pPr marL="342900" indent="-342900">
              <a:buFont typeface="Arial" panose="020B0604020202020204" pitchFamily="34" charset="0"/>
              <a:buChar char="•"/>
            </a:pPr>
            <a:r>
              <a:rPr lang="cs-CZ" sz="2400" dirty="0"/>
              <a:t>oživení a validace prototypu</a:t>
            </a:r>
          </a:p>
          <a:p>
            <a:pPr marL="342900" indent="-342900">
              <a:buFont typeface="Arial" panose="020B0604020202020204" pitchFamily="34" charset="0"/>
              <a:buChar char="•"/>
            </a:pPr>
            <a:r>
              <a:rPr lang="cs-CZ" sz="2400" dirty="0"/>
              <a:t>další práce v této oblasti – integrace zpětné vazby, modifikace pro více druhů tekutiny</a:t>
            </a:r>
          </a:p>
        </p:txBody>
      </p:sp>
      <p:sp>
        <p:nvSpPr>
          <p:cNvPr id="4" name="Zástupný symbol pro číslo snímku 3">
            <a:extLst>
              <a:ext uri="{FF2B5EF4-FFF2-40B4-BE49-F238E27FC236}">
                <a16:creationId xmlns:a16="http://schemas.microsoft.com/office/drawing/2014/main" id="{FB2910BF-4A26-2462-3CE2-1B711410764C}"/>
              </a:ext>
            </a:extLst>
          </p:cNvPr>
          <p:cNvSpPr>
            <a:spLocks noGrp="1"/>
          </p:cNvSpPr>
          <p:nvPr>
            <p:ph type="sldNum" sz="quarter" idx="11"/>
          </p:nvPr>
        </p:nvSpPr>
        <p:spPr/>
        <p:txBody>
          <a:bodyPr/>
          <a:lstStyle/>
          <a:p>
            <a:fld id="{EE49E6E8-1AE2-4E17-9D02-B0051A1FAF88}" type="slidenum">
              <a:rPr lang="cs-CZ" smtClean="0"/>
              <a:t>11</a:t>
            </a:fld>
            <a:endParaRPr lang="cs-CZ" dirty="0"/>
          </a:p>
        </p:txBody>
      </p:sp>
    </p:spTree>
    <p:extLst>
      <p:ext uri="{BB962C8B-B14F-4D97-AF65-F5344CB8AC3E}">
        <p14:creationId xmlns:p14="http://schemas.microsoft.com/office/powerpoint/2010/main" val="2994845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5F99-D5BC-16A1-226A-101858A3BCD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825C7A5-A637-3D23-A78E-949F1B92AF4D}"/>
              </a:ext>
            </a:extLst>
          </p:cNvPr>
          <p:cNvSpPr>
            <a:spLocks noGrp="1"/>
          </p:cNvSpPr>
          <p:nvPr>
            <p:ph type="title"/>
          </p:nvPr>
        </p:nvSpPr>
        <p:spPr>
          <a:xfrm>
            <a:off x="1528093" y="2706191"/>
            <a:ext cx="6087813" cy="868859"/>
          </a:xfrm>
        </p:spPr>
        <p:txBody>
          <a:bodyPr>
            <a:normAutofit/>
          </a:bodyPr>
          <a:lstStyle/>
          <a:p>
            <a:r>
              <a:rPr lang="cs-CZ" sz="4000" dirty="0"/>
              <a:t>DĚKUJI ZA POZORNOST</a:t>
            </a:r>
          </a:p>
        </p:txBody>
      </p:sp>
      <p:sp>
        <p:nvSpPr>
          <p:cNvPr id="3" name="Zástupný obsah 2">
            <a:extLst>
              <a:ext uri="{FF2B5EF4-FFF2-40B4-BE49-F238E27FC236}">
                <a16:creationId xmlns:a16="http://schemas.microsoft.com/office/drawing/2014/main" id="{FB595B99-0B24-9773-BF9B-87AD9BDC8A7E}"/>
              </a:ext>
            </a:extLst>
          </p:cNvPr>
          <p:cNvSpPr>
            <a:spLocks noGrp="1"/>
          </p:cNvSpPr>
          <p:nvPr>
            <p:ph idx="1"/>
          </p:nvPr>
        </p:nvSpPr>
        <p:spPr>
          <a:xfrm>
            <a:off x="571561" y="3392487"/>
            <a:ext cx="8000875" cy="365125"/>
          </a:xfrm>
        </p:spPr>
        <p:txBody>
          <a:bodyPr>
            <a:normAutofit fontScale="92500" lnSpcReduction="10000"/>
          </a:bodyPr>
          <a:lstStyle/>
          <a:p>
            <a:pPr algn="ctr"/>
            <a:r>
              <a:rPr lang="cs-CZ" sz="2400" dirty="0"/>
              <a:t>Daniel Čech</a:t>
            </a:r>
          </a:p>
        </p:txBody>
      </p:sp>
      <p:sp>
        <p:nvSpPr>
          <p:cNvPr id="4" name="Zástupný symbol pro číslo snímku 3">
            <a:extLst>
              <a:ext uri="{FF2B5EF4-FFF2-40B4-BE49-F238E27FC236}">
                <a16:creationId xmlns:a16="http://schemas.microsoft.com/office/drawing/2014/main" id="{FB2910BF-4A26-2462-3CE2-1B711410764C}"/>
              </a:ext>
            </a:extLst>
          </p:cNvPr>
          <p:cNvSpPr>
            <a:spLocks noGrp="1"/>
          </p:cNvSpPr>
          <p:nvPr>
            <p:ph type="sldNum" sz="quarter" idx="11"/>
          </p:nvPr>
        </p:nvSpPr>
        <p:spPr/>
        <p:txBody>
          <a:bodyPr/>
          <a:lstStyle/>
          <a:p>
            <a:fld id="{EE49E6E8-1AE2-4E17-9D02-B0051A1FAF88}" type="slidenum">
              <a:rPr lang="cs-CZ" smtClean="0"/>
              <a:t>12</a:t>
            </a:fld>
            <a:endParaRPr lang="cs-CZ" dirty="0"/>
          </a:p>
        </p:txBody>
      </p:sp>
    </p:spTree>
    <p:extLst>
      <p:ext uri="{BB962C8B-B14F-4D97-AF65-F5344CB8AC3E}">
        <p14:creationId xmlns:p14="http://schemas.microsoft.com/office/powerpoint/2010/main" val="3382245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5F99-D5BC-16A1-226A-101858A3BCD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825C7A5-A637-3D23-A78E-949F1B92AF4D}"/>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FB595B99-0B24-9773-BF9B-87AD9BDC8A7E}"/>
              </a:ext>
            </a:extLst>
          </p:cNvPr>
          <p:cNvSpPr>
            <a:spLocks noGrp="1"/>
          </p:cNvSpPr>
          <p:nvPr>
            <p:ph idx="1"/>
          </p:nvPr>
        </p:nvSpPr>
        <p:spPr>
          <a:xfrm>
            <a:off x="978400" y="2115137"/>
            <a:ext cx="7794000" cy="4175595"/>
          </a:xfrm>
        </p:spPr>
        <p:txBody>
          <a:bodyPr>
            <a:normAutofit/>
          </a:bodyPr>
          <a:lstStyle/>
          <a:p>
            <a:r>
              <a:rPr lang="cs-CZ" sz="2800" dirty="0"/>
              <a:t>1) V práci uvádíte použití </a:t>
            </a:r>
            <a:r>
              <a:rPr lang="cs-CZ" sz="2800" dirty="0" err="1"/>
              <a:t>optoizolovaných</a:t>
            </a:r>
            <a:r>
              <a:rPr lang="cs-CZ" sz="2800" dirty="0"/>
              <a:t> tranzistorů MOSFET a zároveň diskutujete galvanické oddělení jednotlivých částí systému. Mohl byste podrobněji vysvětlit, jak bylo galvanické oddělení v návrhu realizováno a jaké výhody jste od něj očekával?</a:t>
            </a:r>
          </a:p>
        </p:txBody>
      </p:sp>
      <p:sp>
        <p:nvSpPr>
          <p:cNvPr id="4" name="Zástupný symbol pro číslo snímku 3">
            <a:extLst>
              <a:ext uri="{FF2B5EF4-FFF2-40B4-BE49-F238E27FC236}">
                <a16:creationId xmlns:a16="http://schemas.microsoft.com/office/drawing/2014/main" id="{FB2910BF-4A26-2462-3CE2-1B711410764C}"/>
              </a:ext>
            </a:extLst>
          </p:cNvPr>
          <p:cNvSpPr>
            <a:spLocks noGrp="1"/>
          </p:cNvSpPr>
          <p:nvPr>
            <p:ph type="sldNum" sz="quarter" idx="11"/>
          </p:nvPr>
        </p:nvSpPr>
        <p:spPr/>
        <p:txBody>
          <a:bodyPr/>
          <a:lstStyle/>
          <a:p>
            <a:fld id="{EE49E6E8-1AE2-4E17-9D02-B0051A1FAF88}" type="slidenum">
              <a:rPr lang="cs-CZ" smtClean="0"/>
              <a:t>13</a:t>
            </a:fld>
            <a:endParaRPr lang="cs-CZ" dirty="0"/>
          </a:p>
        </p:txBody>
      </p:sp>
    </p:spTree>
    <p:extLst>
      <p:ext uri="{BB962C8B-B14F-4D97-AF65-F5344CB8AC3E}">
        <p14:creationId xmlns:p14="http://schemas.microsoft.com/office/powerpoint/2010/main" val="1381683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0DF22-4156-7972-0F80-41AF002498E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0D8673B2-4E8B-5D82-6A65-A52548104491}"/>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F1348634-81EF-AC66-110F-CCAB7BD2E143}"/>
              </a:ext>
            </a:extLst>
          </p:cNvPr>
          <p:cNvSpPr>
            <a:spLocks noGrp="1"/>
          </p:cNvSpPr>
          <p:nvPr>
            <p:ph idx="1"/>
          </p:nvPr>
        </p:nvSpPr>
        <p:spPr>
          <a:xfrm>
            <a:off x="978400" y="2115137"/>
            <a:ext cx="7794000" cy="4175595"/>
          </a:xfrm>
        </p:spPr>
        <p:txBody>
          <a:bodyPr>
            <a:normAutofit/>
          </a:bodyPr>
          <a:lstStyle/>
          <a:p>
            <a:pPr marL="342900" indent="-342900">
              <a:buFont typeface="Arial" panose="020B0604020202020204" pitchFamily="34" charset="0"/>
              <a:buChar char="•"/>
            </a:pPr>
            <a:r>
              <a:rPr lang="cs-CZ" sz="2400" dirty="0"/>
              <a:t>nepřesnost v textu – původně bylo zamýšleno galvanické oddělení, nakonec pro účely prototypu GND spojeny do hvězdicového zapojení</a:t>
            </a:r>
          </a:p>
          <a:p>
            <a:pPr marL="342900" indent="-342900">
              <a:buFont typeface="Arial" panose="020B0604020202020204" pitchFamily="34" charset="0"/>
              <a:buChar char="•"/>
            </a:pPr>
            <a:r>
              <a:rPr lang="cs-CZ" sz="2400" dirty="0"/>
              <a:t>v případě produkce vhodné galvanicky oddělit</a:t>
            </a:r>
          </a:p>
          <a:p>
            <a:pPr marL="342900" indent="-342900">
              <a:buFont typeface="Arial" panose="020B0604020202020204" pitchFamily="34" charset="0"/>
              <a:buChar char="•"/>
            </a:pPr>
            <a:r>
              <a:rPr lang="cs-CZ" sz="2400" dirty="0" err="1"/>
              <a:t>MOSFETy</a:t>
            </a:r>
            <a:r>
              <a:rPr lang="cs-CZ" sz="2400" dirty="0"/>
              <a:t> </a:t>
            </a:r>
            <a:r>
              <a:rPr lang="cs-CZ" sz="2400" dirty="0" err="1"/>
              <a:t>optoizolované</a:t>
            </a:r>
            <a:r>
              <a:rPr lang="cs-CZ" sz="2400" dirty="0"/>
              <a:t> jsou – koupeny se záměrem </a:t>
            </a:r>
            <a:r>
              <a:rPr lang="cs-CZ" sz="2400" dirty="0" err="1"/>
              <a:t>optoizolace</a:t>
            </a:r>
            <a:r>
              <a:rPr lang="cs-CZ" sz="2400" dirty="0"/>
              <a:t>, nakonec optočlen přemostěn</a:t>
            </a:r>
          </a:p>
          <a:p>
            <a:pPr marL="342900" indent="-342900">
              <a:buFont typeface="Arial" panose="020B0604020202020204" pitchFamily="34" charset="0"/>
              <a:buChar char="•"/>
            </a:pPr>
            <a:r>
              <a:rPr lang="cs-CZ" sz="2400" dirty="0"/>
              <a:t>Ochrana proti napěťovým špičkám a rušení – dostatečně tvrdé zdroje a kondenzátory u výkonových prvků</a:t>
            </a:r>
          </a:p>
        </p:txBody>
      </p:sp>
      <p:sp>
        <p:nvSpPr>
          <p:cNvPr id="4" name="Zástupný symbol pro číslo snímku 3">
            <a:extLst>
              <a:ext uri="{FF2B5EF4-FFF2-40B4-BE49-F238E27FC236}">
                <a16:creationId xmlns:a16="http://schemas.microsoft.com/office/drawing/2014/main" id="{6B22A32C-6055-5B0A-2E31-B0D18E5C2D5E}"/>
              </a:ext>
            </a:extLst>
          </p:cNvPr>
          <p:cNvSpPr>
            <a:spLocks noGrp="1"/>
          </p:cNvSpPr>
          <p:nvPr>
            <p:ph type="sldNum" sz="quarter" idx="11"/>
          </p:nvPr>
        </p:nvSpPr>
        <p:spPr/>
        <p:txBody>
          <a:bodyPr/>
          <a:lstStyle/>
          <a:p>
            <a:fld id="{EE49E6E8-1AE2-4E17-9D02-B0051A1FAF88}" type="slidenum">
              <a:rPr lang="cs-CZ" smtClean="0"/>
              <a:t>14</a:t>
            </a:fld>
            <a:endParaRPr lang="cs-CZ" dirty="0"/>
          </a:p>
        </p:txBody>
      </p:sp>
    </p:spTree>
    <p:extLst>
      <p:ext uri="{BB962C8B-B14F-4D97-AF65-F5344CB8AC3E}">
        <p14:creationId xmlns:p14="http://schemas.microsoft.com/office/powerpoint/2010/main" val="3158631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5F99-D5BC-16A1-226A-101858A3BCD3}"/>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5825C7A5-A637-3D23-A78E-949F1B92AF4D}"/>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FB595B99-0B24-9773-BF9B-87AD9BDC8A7E}"/>
              </a:ext>
            </a:extLst>
          </p:cNvPr>
          <p:cNvSpPr>
            <a:spLocks noGrp="1"/>
          </p:cNvSpPr>
          <p:nvPr>
            <p:ph idx="1"/>
          </p:nvPr>
        </p:nvSpPr>
        <p:spPr>
          <a:xfrm>
            <a:off x="978400" y="2115137"/>
            <a:ext cx="7794000" cy="4175595"/>
          </a:xfrm>
        </p:spPr>
        <p:txBody>
          <a:bodyPr>
            <a:normAutofit/>
          </a:bodyPr>
          <a:lstStyle/>
          <a:p>
            <a:r>
              <a:rPr lang="cs-CZ" sz="2400" dirty="0"/>
              <a:t>2) Zabýval jste se při návrhu alespoň orientačním srovnáním cenového rozpětí senzorů hmotnosti nebo průtoku, a jejich typické přesnosti ve vztahu k dosaženým výsledkům navrženého řešení?</a:t>
            </a:r>
          </a:p>
        </p:txBody>
      </p:sp>
      <p:sp>
        <p:nvSpPr>
          <p:cNvPr id="4" name="Zástupný symbol pro číslo snímku 3">
            <a:extLst>
              <a:ext uri="{FF2B5EF4-FFF2-40B4-BE49-F238E27FC236}">
                <a16:creationId xmlns:a16="http://schemas.microsoft.com/office/drawing/2014/main" id="{FB2910BF-4A26-2462-3CE2-1B711410764C}"/>
              </a:ext>
            </a:extLst>
          </p:cNvPr>
          <p:cNvSpPr>
            <a:spLocks noGrp="1"/>
          </p:cNvSpPr>
          <p:nvPr>
            <p:ph type="sldNum" sz="quarter" idx="11"/>
          </p:nvPr>
        </p:nvSpPr>
        <p:spPr/>
        <p:txBody>
          <a:bodyPr/>
          <a:lstStyle/>
          <a:p>
            <a:fld id="{EE49E6E8-1AE2-4E17-9D02-B0051A1FAF88}" type="slidenum">
              <a:rPr lang="cs-CZ" smtClean="0"/>
              <a:t>15</a:t>
            </a:fld>
            <a:endParaRPr lang="cs-CZ" dirty="0"/>
          </a:p>
        </p:txBody>
      </p:sp>
    </p:spTree>
    <p:extLst>
      <p:ext uri="{BB962C8B-B14F-4D97-AF65-F5344CB8AC3E}">
        <p14:creationId xmlns:p14="http://schemas.microsoft.com/office/powerpoint/2010/main" val="464001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49A8F-CF71-3570-2C15-EB460F3C2AF4}"/>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08179305-BB72-4941-DC96-5209CDEC0109}"/>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mc:AlternateContent xmlns:mc="http://schemas.openxmlformats.org/markup-compatibility/2006">
        <mc:Choice xmlns:a14="http://schemas.microsoft.com/office/drawing/2010/main" Requires="a14">
          <p:sp>
            <p:nvSpPr>
              <p:cNvPr id="3" name="Zástupný obsah 2">
                <a:extLst>
                  <a:ext uri="{FF2B5EF4-FFF2-40B4-BE49-F238E27FC236}">
                    <a16:creationId xmlns:a16="http://schemas.microsoft.com/office/drawing/2014/main" id="{859CDF1E-1AAB-9DB1-760A-F78A0C17BE49}"/>
                  </a:ext>
                </a:extLst>
              </p:cNvPr>
              <p:cNvSpPr>
                <a:spLocks noGrp="1"/>
              </p:cNvSpPr>
              <p:nvPr>
                <p:ph idx="1"/>
              </p:nvPr>
            </p:nvSpPr>
            <p:spPr>
              <a:xfrm>
                <a:off x="721480" y="2180755"/>
                <a:ext cx="8307840" cy="4175595"/>
              </a:xfrm>
            </p:spPr>
            <p:txBody>
              <a:bodyPr>
                <a:normAutofit fontScale="92500" lnSpcReduction="20000"/>
              </a:bodyPr>
              <a:lstStyle/>
              <a:p>
                <a:r>
                  <a:rPr lang="cs-CZ" sz="2600" dirty="0"/>
                  <a:t>Průtok:</a:t>
                </a:r>
              </a:p>
              <a:p>
                <a:pPr marL="342900" indent="-342900">
                  <a:buFont typeface="Arial" panose="020B0604020202020204" pitchFamily="34" charset="0"/>
                  <a:buChar char="•"/>
                </a:pPr>
                <a:r>
                  <a:rPr lang="cs-CZ" sz="1900" dirty="0"/>
                  <a:t>YF-S301 [1] </a:t>
                </a:r>
              </a:p>
              <a:p>
                <a:pPr marL="1028666" lvl="1" indent="-342900"/>
                <a:r>
                  <a:rPr lang="cs-CZ" sz="1700" dirty="0"/>
                  <a:t>Cena 159 Kč </a:t>
                </a:r>
              </a:p>
              <a:p>
                <a:pPr marL="1028666" lvl="1" indent="-342900"/>
                <a:r>
                  <a:rPr lang="cs-CZ" sz="2100" dirty="0"/>
                  <a:t> </a:t>
                </a:r>
                <a14:m>
                  <m:oMath xmlns:m="http://schemas.openxmlformats.org/officeDocument/2006/math">
                    <m:sSub>
                      <m:sSubPr>
                        <m:ctrlPr>
                          <a:rPr lang="cs-CZ" sz="2100" i="1">
                            <a:latin typeface="Cambria Math" panose="02040503050406030204" pitchFamily="18" charset="0"/>
                          </a:rPr>
                        </m:ctrlPr>
                      </m:sSubPr>
                      <m:e>
                        <m:r>
                          <a:rPr lang="cs-CZ" sz="2100" i="1">
                            <a:latin typeface="Cambria Math" panose="02040503050406030204" pitchFamily="18" charset="0"/>
                          </a:rPr>
                          <m:t>𝑉</m:t>
                        </m:r>
                      </m:e>
                      <m:sub>
                        <m:r>
                          <m:rPr>
                            <m:nor/>
                          </m:rPr>
                          <a:rPr lang="cs-CZ" sz="2100">
                            <a:latin typeface="Cambria Math" panose="02040503050406030204" pitchFamily="18" charset="0"/>
                          </a:rPr>
                          <m:t>krok</m:t>
                        </m:r>
                      </m:sub>
                    </m:sSub>
                    <m:r>
                      <a:rPr lang="cs-CZ" sz="2100" i="1">
                        <a:latin typeface="Cambria Math" panose="02040503050406030204" pitchFamily="18" charset="0"/>
                      </a:rPr>
                      <m:t>=</m:t>
                    </m:r>
                    <m:f>
                      <m:fPr>
                        <m:ctrlPr>
                          <a:rPr lang="cs-CZ" sz="2100" i="1">
                            <a:latin typeface="Cambria Math" panose="02040503050406030204" pitchFamily="18" charset="0"/>
                          </a:rPr>
                        </m:ctrlPr>
                      </m:fPr>
                      <m:num>
                        <m:r>
                          <a:rPr lang="cs-CZ" sz="2100" i="1">
                            <a:latin typeface="Cambria Math" panose="02040503050406030204" pitchFamily="18" charset="0"/>
                          </a:rPr>
                          <m:t>1000</m:t>
                        </m:r>
                        <m:r>
                          <m:rPr>
                            <m:nor/>
                          </m:rPr>
                          <a:rPr lang="cs-CZ" sz="2100">
                            <a:latin typeface="Cambria Math" panose="02040503050406030204" pitchFamily="18" charset="0"/>
                          </a:rPr>
                          <m:t> </m:t>
                        </m:r>
                        <m:r>
                          <m:rPr>
                            <m:nor/>
                          </m:rPr>
                          <a:rPr lang="cs-CZ" sz="2100">
                            <a:latin typeface="Cambria Math" panose="02040503050406030204" pitchFamily="18" charset="0"/>
                          </a:rPr>
                          <m:t>ml</m:t>
                        </m:r>
                      </m:num>
                      <m:den>
                        <m:r>
                          <a:rPr lang="cs-CZ" sz="2100" i="1">
                            <a:latin typeface="Cambria Math" panose="02040503050406030204" pitchFamily="18" charset="0"/>
                          </a:rPr>
                          <m:t>1260</m:t>
                        </m:r>
                      </m:den>
                    </m:f>
                    <m:r>
                      <a:rPr lang="cs-CZ" sz="2100" i="1">
                        <a:latin typeface="Cambria Math" panose="02040503050406030204" pitchFamily="18" charset="0"/>
                      </a:rPr>
                      <m:t>≈0,79</m:t>
                    </m:r>
                    <m:r>
                      <m:rPr>
                        <m:nor/>
                      </m:rPr>
                      <a:rPr lang="cs-CZ" sz="2100">
                        <a:latin typeface="Cambria Math" panose="02040503050406030204" pitchFamily="18" charset="0"/>
                      </a:rPr>
                      <m:t> </m:t>
                    </m:r>
                    <m:r>
                      <m:rPr>
                        <m:nor/>
                      </m:rPr>
                      <a:rPr lang="cs-CZ" sz="2100">
                        <a:latin typeface="Cambria Math" panose="02040503050406030204" pitchFamily="18" charset="0"/>
                      </a:rPr>
                      <m:t>ml</m:t>
                    </m:r>
                  </m:oMath>
                </a14:m>
                <a:endParaRPr lang="cs-CZ" sz="2100" dirty="0">
                  <a:latin typeface="Cambria Math" panose="02040503050406030204" pitchFamily="18" charset="0"/>
                </a:endParaRPr>
              </a:p>
              <a:p>
                <a:pPr marL="342900" indent="-342900">
                  <a:buFont typeface="Arial" panose="020B0604020202020204" pitchFamily="34" charset="0"/>
                  <a:buChar char="•"/>
                </a:pPr>
                <a:r>
                  <a:rPr lang="cs-CZ" sz="1900" dirty="0" err="1"/>
                  <a:t>Swissflow</a:t>
                </a:r>
                <a:r>
                  <a:rPr lang="cs-CZ" sz="1900" dirty="0"/>
                  <a:t> SF800  [2] </a:t>
                </a:r>
              </a:p>
              <a:p>
                <a:pPr marL="1028666" lvl="1" indent="-342900"/>
                <a:r>
                  <a:rPr lang="cs-CZ" sz="1700" dirty="0"/>
                  <a:t>Cena 1 489 Kč</a:t>
                </a:r>
              </a:p>
              <a:p>
                <a:pPr marL="1028666" lvl="1" indent="-342900"/>
                <a14:m>
                  <m:oMath xmlns:m="http://schemas.openxmlformats.org/officeDocument/2006/math">
                    <m:sSub>
                      <m:sSubPr>
                        <m:ctrlPr>
                          <a:rPr lang="cs-CZ" sz="2100" i="1">
                            <a:latin typeface="Cambria Math" panose="02040503050406030204" pitchFamily="18" charset="0"/>
                          </a:rPr>
                        </m:ctrlPr>
                      </m:sSubPr>
                      <m:e>
                        <m:r>
                          <a:rPr lang="cs-CZ" sz="2100" i="1">
                            <a:latin typeface="Cambria Math" panose="02040503050406030204" pitchFamily="18" charset="0"/>
                          </a:rPr>
                          <m:t>𝑉</m:t>
                        </m:r>
                      </m:e>
                      <m:sub>
                        <m:r>
                          <m:rPr>
                            <m:nor/>
                          </m:rPr>
                          <a:rPr lang="cs-CZ" sz="2100">
                            <a:latin typeface="Cambria Math" panose="02040503050406030204" pitchFamily="18" charset="0"/>
                          </a:rPr>
                          <m:t>krok</m:t>
                        </m:r>
                      </m:sub>
                    </m:sSub>
                    <m:r>
                      <a:rPr lang="cs-CZ" sz="2100" i="1">
                        <a:latin typeface="Cambria Math" panose="02040503050406030204" pitchFamily="18" charset="0"/>
                      </a:rPr>
                      <m:t>=</m:t>
                    </m:r>
                    <m:f>
                      <m:fPr>
                        <m:ctrlPr>
                          <a:rPr lang="cs-CZ" sz="2100" i="1">
                            <a:latin typeface="Cambria Math" panose="02040503050406030204" pitchFamily="18" charset="0"/>
                          </a:rPr>
                        </m:ctrlPr>
                      </m:fPr>
                      <m:num>
                        <m:r>
                          <a:rPr lang="cs-CZ" sz="2100" i="1">
                            <a:latin typeface="Cambria Math" panose="02040503050406030204" pitchFamily="18" charset="0"/>
                          </a:rPr>
                          <m:t>1000</m:t>
                        </m:r>
                        <m:r>
                          <m:rPr>
                            <m:nor/>
                          </m:rPr>
                          <a:rPr lang="cs-CZ" sz="2100">
                            <a:latin typeface="Cambria Math" panose="02040503050406030204" pitchFamily="18" charset="0"/>
                          </a:rPr>
                          <m:t> </m:t>
                        </m:r>
                        <m:r>
                          <m:rPr>
                            <m:nor/>
                          </m:rPr>
                          <a:rPr lang="cs-CZ" sz="2100">
                            <a:latin typeface="Cambria Math" panose="02040503050406030204" pitchFamily="18" charset="0"/>
                          </a:rPr>
                          <m:t>ml</m:t>
                        </m:r>
                      </m:num>
                      <m:den>
                        <m:r>
                          <a:rPr lang="cs-CZ" sz="2100" i="1">
                            <a:latin typeface="Cambria Math" panose="02040503050406030204" pitchFamily="18" charset="0"/>
                          </a:rPr>
                          <m:t>6</m:t>
                        </m:r>
                        <m:r>
                          <a:rPr lang="cs-CZ" sz="2100" i="1">
                            <a:latin typeface="Cambria Math" panose="02040503050406030204" pitchFamily="18" charset="0"/>
                          </a:rPr>
                          <m:t>10</m:t>
                        </m:r>
                        <m:r>
                          <a:rPr lang="cs-CZ" sz="2100" i="1">
                            <a:latin typeface="Cambria Math" panose="02040503050406030204" pitchFamily="18" charset="0"/>
                          </a:rPr>
                          <m:t>0</m:t>
                        </m:r>
                      </m:den>
                    </m:f>
                    <m:r>
                      <a:rPr lang="cs-CZ" sz="2100" i="1">
                        <a:latin typeface="Cambria Math" panose="02040503050406030204" pitchFamily="18" charset="0"/>
                      </a:rPr>
                      <m:t>≈0,</m:t>
                    </m:r>
                    <m:r>
                      <a:rPr lang="cs-CZ" sz="2100" i="1">
                        <a:latin typeface="Cambria Math" panose="02040503050406030204" pitchFamily="18" charset="0"/>
                      </a:rPr>
                      <m:t>16 </m:t>
                    </m:r>
                    <m:r>
                      <m:rPr>
                        <m:nor/>
                      </m:rPr>
                      <a:rPr lang="cs-CZ" sz="2100">
                        <a:latin typeface="Cambria Math" panose="02040503050406030204" pitchFamily="18" charset="0"/>
                      </a:rPr>
                      <m:t>ml</m:t>
                    </m:r>
                  </m:oMath>
                </a14:m>
                <a:endParaRPr lang="cs-CZ" sz="2100" dirty="0">
                  <a:latin typeface="Cambria Math" panose="02040503050406030204" pitchFamily="18" charset="0"/>
                </a:endParaRPr>
              </a:p>
              <a:p>
                <a:r>
                  <a:rPr lang="cs-CZ" sz="1500" dirty="0"/>
                  <a:t>Požadována relativní přesnost 2,5% (10 ml – 0,25 ml, 40 ml – 1 ml)</a:t>
                </a:r>
              </a:p>
              <a:p>
                <a:r>
                  <a:rPr lang="cs-CZ" sz="2600" dirty="0"/>
                  <a:t>Hmotnost:</a:t>
                </a:r>
              </a:p>
              <a:p>
                <a:pPr marL="285750" indent="-285750">
                  <a:buFont typeface="Arial" panose="020B0604020202020204" pitchFamily="34" charset="0"/>
                  <a:buChar char="•"/>
                </a:pPr>
                <a:r>
                  <a:rPr lang="cs-CZ" sz="1700" dirty="0"/>
                  <a:t>tenzometrický snímač NA – 27 (1000 g) [3]</a:t>
                </a:r>
              </a:p>
              <a:p>
                <a:pPr marL="285750" indent="-285750">
                  <a:buFont typeface="Arial" panose="020B0604020202020204" pitchFamily="34" charset="0"/>
                  <a:buChar char="•"/>
                </a:pPr>
                <a:r>
                  <a:rPr lang="cs-CZ" sz="1700" dirty="0"/>
                  <a:t>statická přesnost +- 0,3 g, při čerpání zkreslení dynamickými rázy</a:t>
                </a:r>
              </a:p>
              <a:p>
                <a:pPr marL="285750" indent="-285750">
                  <a:buFont typeface="Arial" panose="020B0604020202020204" pitchFamily="34" charset="0"/>
                  <a:buChar char="•"/>
                </a:pPr>
                <a:r>
                  <a:rPr lang="cs-CZ" sz="1700" dirty="0"/>
                  <a:t>cena 223 Kč (potřeba 6 kusů)  </a:t>
                </a:r>
              </a:p>
            </p:txBody>
          </p:sp>
        </mc:Choice>
        <mc:Fallback>
          <p:sp>
            <p:nvSpPr>
              <p:cNvPr id="3" name="Zástupný obsah 2">
                <a:extLst>
                  <a:ext uri="{FF2B5EF4-FFF2-40B4-BE49-F238E27FC236}">
                    <a16:creationId xmlns:a16="http://schemas.microsoft.com/office/drawing/2014/main" id="{859CDF1E-1AAB-9DB1-760A-F78A0C17BE49}"/>
                  </a:ext>
                </a:extLst>
              </p:cNvPr>
              <p:cNvSpPr>
                <a:spLocks noGrp="1" noRot="1" noChangeAspect="1" noMove="1" noResize="1" noEditPoints="1" noAdjustHandles="1" noChangeArrowheads="1" noChangeShapeType="1" noTextEdit="1"/>
              </p:cNvSpPr>
              <p:nvPr>
                <p:ph idx="1"/>
              </p:nvPr>
            </p:nvSpPr>
            <p:spPr>
              <a:xfrm>
                <a:off x="721480" y="2180755"/>
                <a:ext cx="8307840" cy="4175595"/>
              </a:xfrm>
              <a:blipFill>
                <a:blip r:embed="rId2"/>
                <a:stretch>
                  <a:fillRect l="-1101" t="-3796"/>
                </a:stretch>
              </a:blipFill>
            </p:spPr>
            <p:txBody>
              <a:bodyPr/>
              <a:lstStyle/>
              <a:p>
                <a:r>
                  <a:rPr lang="cs-CZ">
                    <a:noFill/>
                  </a:rPr>
                  <a:t> </a:t>
                </a:r>
              </a:p>
            </p:txBody>
          </p:sp>
        </mc:Fallback>
      </mc:AlternateContent>
      <p:sp>
        <p:nvSpPr>
          <p:cNvPr id="4" name="Zástupný symbol pro číslo snímku 3">
            <a:extLst>
              <a:ext uri="{FF2B5EF4-FFF2-40B4-BE49-F238E27FC236}">
                <a16:creationId xmlns:a16="http://schemas.microsoft.com/office/drawing/2014/main" id="{9A590C03-FC76-5B35-7303-282F526AE00C}"/>
              </a:ext>
            </a:extLst>
          </p:cNvPr>
          <p:cNvSpPr>
            <a:spLocks noGrp="1"/>
          </p:cNvSpPr>
          <p:nvPr>
            <p:ph type="sldNum" sz="quarter" idx="11"/>
          </p:nvPr>
        </p:nvSpPr>
        <p:spPr/>
        <p:txBody>
          <a:bodyPr/>
          <a:lstStyle/>
          <a:p>
            <a:fld id="{EE49E6E8-1AE2-4E17-9D02-B0051A1FAF88}" type="slidenum">
              <a:rPr lang="cs-CZ" smtClean="0"/>
              <a:t>16</a:t>
            </a:fld>
            <a:endParaRPr lang="cs-CZ" dirty="0"/>
          </a:p>
        </p:txBody>
      </p:sp>
    </p:spTree>
    <p:extLst>
      <p:ext uri="{BB962C8B-B14F-4D97-AF65-F5344CB8AC3E}">
        <p14:creationId xmlns:p14="http://schemas.microsoft.com/office/powerpoint/2010/main" val="2431177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4AAB-9671-D4CC-CF6A-C60CBA22286C}"/>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D9DF340-4FD3-F08A-B9AF-AEFE1E668D00}"/>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F2D7186D-700B-A024-ADE1-A4B31330849A}"/>
              </a:ext>
            </a:extLst>
          </p:cNvPr>
          <p:cNvSpPr>
            <a:spLocks noGrp="1"/>
          </p:cNvSpPr>
          <p:nvPr>
            <p:ph idx="1"/>
          </p:nvPr>
        </p:nvSpPr>
        <p:spPr>
          <a:xfrm>
            <a:off x="978400" y="2115137"/>
            <a:ext cx="7794000" cy="4175595"/>
          </a:xfrm>
        </p:spPr>
        <p:txBody>
          <a:bodyPr>
            <a:normAutofit/>
          </a:bodyPr>
          <a:lstStyle/>
          <a:p>
            <a:r>
              <a:rPr lang="cs-CZ" sz="2400" dirty="0"/>
              <a:t>3) Pokud by byl navržený systém využit pro přípravu nápojů obsahujících více ingrediencí, jak by se podle Vás projevila chyba odměřování jednotlivých dávek na výsledné přesnosti připravovaného nápoje? Docházelo by ke kumulaci chyb s rostoucím počtem ingrediencí? </a:t>
            </a:r>
          </a:p>
          <a:p>
            <a:endParaRPr lang="cs-CZ" sz="2400" dirty="0"/>
          </a:p>
        </p:txBody>
      </p:sp>
      <p:sp>
        <p:nvSpPr>
          <p:cNvPr id="4" name="Zástupný symbol pro číslo snímku 3">
            <a:extLst>
              <a:ext uri="{FF2B5EF4-FFF2-40B4-BE49-F238E27FC236}">
                <a16:creationId xmlns:a16="http://schemas.microsoft.com/office/drawing/2014/main" id="{5C87CA9D-0A65-D419-2D19-C30CFA93FA57}"/>
              </a:ext>
            </a:extLst>
          </p:cNvPr>
          <p:cNvSpPr>
            <a:spLocks noGrp="1"/>
          </p:cNvSpPr>
          <p:nvPr>
            <p:ph type="sldNum" sz="quarter" idx="11"/>
          </p:nvPr>
        </p:nvSpPr>
        <p:spPr/>
        <p:txBody>
          <a:bodyPr/>
          <a:lstStyle/>
          <a:p>
            <a:fld id="{EE49E6E8-1AE2-4E17-9D02-B0051A1FAF88}" type="slidenum">
              <a:rPr lang="cs-CZ" smtClean="0"/>
              <a:t>17</a:t>
            </a:fld>
            <a:endParaRPr lang="cs-CZ" dirty="0"/>
          </a:p>
        </p:txBody>
      </p:sp>
    </p:spTree>
    <p:extLst>
      <p:ext uri="{BB962C8B-B14F-4D97-AF65-F5344CB8AC3E}">
        <p14:creationId xmlns:p14="http://schemas.microsoft.com/office/powerpoint/2010/main" val="57886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D4C24-C427-0D63-2A1B-DE83472AA53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A6CA0EA9-9F0C-596F-491B-489436D7E2C5}"/>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65CEBCFF-D78C-C4AD-1C22-673EA834AA1C}"/>
              </a:ext>
            </a:extLst>
          </p:cNvPr>
          <p:cNvSpPr>
            <a:spLocks noGrp="1"/>
          </p:cNvSpPr>
          <p:nvPr>
            <p:ph idx="1"/>
          </p:nvPr>
        </p:nvSpPr>
        <p:spPr>
          <a:xfrm>
            <a:off x="978400" y="2115137"/>
            <a:ext cx="7794000" cy="4175595"/>
          </a:xfrm>
        </p:spPr>
        <p:txBody>
          <a:bodyPr>
            <a:normAutofit/>
          </a:bodyPr>
          <a:lstStyle/>
          <a:p>
            <a:pPr marL="342900" indent="-342900">
              <a:buFont typeface="Arial" panose="020B0604020202020204" pitchFamily="34" charset="0"/>
              <a:buChar char="•"/>
            </a:pPr>
            <a:r>
              <a:rPr lang="cs-CZ" sz="2400" dirty="0"/>
              <a:t>nutnost více kalibračních tabulek</a:t>
            </a:r>
          </a:p>
          <a:p>
            <a:pPr marL="342900" indent="-342900">
              <a:buFont typeface="Arial" panose="020B0604020202020204" pitchFamily="34" charset="0"/>
              <a:buChar char="•"/>
            </a:pPr>
            <a:r>
              <a:rPr lang="cs-CZ" sz="2400" dirty="0"/>
              <a:t>dávkování všech druhů pomocí jedné kalibrační tabulky by vedlo k velké chybě</a:t>
            </a:r>
          </a:p>
          <a:p>
            <a:pPr marL="342900" indent="-342900">
              <a:buFont typeface="Arial" panose="020B0604020202020204" pitchFamily="34" charset="0"/>
              <a:buChar char="•"/>
            </a:pPr>
            <a:r>
              <a:rPr lang="cs-CZ" sz="2400" dirty="0"/>
              <a:t>kumulace chyb s vyšším počtem ingrediencí</a:t>
            </a:r>
          </a:p>
          <a:p>
            <a:pPr marL="342900" indent="-342900">
              <a:buFont typeface="Arial" panose="020B0604020202020204" pitchFamily="34" charset="0"/>
              <a:buChar char="•"/>
            </a:pPr>
            <a:endParaRPr lang="cs-CZ" sz="2400" dirty="0"/>
          </a:p>
        </p:txBody>
      </p:sp>
      <p:sp>
        <p:nvSpPr>
          <p:cNvPr id="4" name="Zástupný symbol pro číslo snímku 3">
            <a:extLst>
              <a:ext uri="{FF2B5EF4-FFF2-40B4-BE49-F238E27FC236}">
                <a16:creationId xmlns:a16="http://schemas.microsoft.com/office/drawing/2014/main" id="{61AE43DC-4CE9-23F0-BD42-91C13A257E2E}"/>
              </a:ext>
            </a:extLst>
          </p:cNvPr>
          <p:cNvSpPr>
            <a:spLocks noGrp="1"/>
          </p:cNvSpPr>
          <p:nvPr>
            <p:ph type="sldNum" sz="quarter" idx="11"/>
          </p:nvPr>
        </p:nvSpPr>
        <p:spPr/>
        <p:txBody>
          <a:bodyPr/>
          <a:lstStyle/>
          <a:p>
            <a:fld id="{EE49E6E8-1AE2-4E17-9D02-B0051A1FAF88}" type="slidenum">
              <a:rPr lang="cs-CZ" smtClean="0"/>
              <a:t>18</a:t>
            </a:fld>
            <a:endParaRPr lang="cs-CZ" dirty="0"/>
          </a:p>
        </p:txBody>
      </p:sp>
    </p:spTree>
    <p:extLst>
      <p:ext uri="{BB962C8B-B14F-4D97-AF65-F5344CB8AC3E}">
        <p14:creationId xmlns:p14="http://schemas.microsoft.com/office/powerpoint/2010/main" val="4039431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0FD3-D0DE-AA16-BCF7-53D039692FD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6973504-9523-3D91-95FD-45D13F2419FE}"/>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B1904E8F-D856-A829-F032-AEA4CBF67B98}"/>
              </a:ext>
            </a:extLst>
          </p:cNvPr>
          <p:cNvSpPr>
            <a:spLocks noGrp="1"/>
          </p:cNvSpPr>
          <p:nvPr>
            <p:ph idx="1"/>
          </p:nvPr>
        </p:nvSpPr>
        <p:spPr>
          <a:xfrm>
            <a:off x="978400" y="2115137"/>
            <a:ext cx="7794000" cy="4175595"/>
          </a:xfrm>
        </p:spPr>
        <p:txBody>
          <a:bodyPr>
            <a:normAutofit/>
          </a:bodyPr>
          <a:lstStyle/>
          <a:p>
            <a:r>
              <a:rPr lang="cs-CZ" sz="2400" dirty="0"/>
              <a:t>4) Uvažoval jste v rámci návrhu o implementaci systému receptů pro automatickou přípravu nápojů? Pokud ano, jakým způsobem byste tuto funkcionalitu začlenil do stávající hardwarové a softwarové architektury systému?</a:t>
            </a:r>
          </a:p>
        </p:txBody>
      </p:sp>
      <p:sp>
        <p:nvSpPr>
          <p:cNvPr id="4" name="Zástupný symbol pro číslo snímku 3">
            <a:extLst>
              <a:ext uri="{FF2B5EF4-FFF2-40B4-BE49-F238E27FC236}">
                <a16:creationId xmlns:a16="http://schemas.microsoft.com/office/drawing/2014/main" id="{22572D91-3736-0327-6525-E28F9CFDCA06}"/>
              </a:ext>
            </a:extLst>
          </p:cNvPr>
          <p:cNvSpPr>
            <a:spLocks noGrp="1"/>
          </p:cNvSpPr>
          <p:nvPr>
            <p:ph type="sldNum" sz="quarter" idx="11"/>
          </p:nvPr>
        </p:nvSpPr>
        <p:spPr/>
        <p:txBody>
          <a:bodyPr/>
          <a:lstStyle/>
          <a:p>
            <a:fld id="{EE49E6E8-1AE2-4E17-9D02-B0051A1FAF88}" type="slidenum">
              <a:rPr lang="cs-CZ" smtClean="0"/>
              <a:t>19</a:t>
            </a:fld>
            <a:endParaRPr lang="cs-CZ" dirty="0"/>
          </a:p>
        </p:txBody>
      </p:sp>
    </p:spTree>
    <p:extLst>
      <p:ext uri="{BB962C8B-B14F-4D97-AF65-F5344CB8AC3E}">
        <p14:creationId xmlns:p14="http://schemas.microsoft.com/office/powerpoint/2010/main" val="955996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62F0F-015C-74BC-B138-4BC5E9FAD9E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712FA774-844A-4216-6704-090EF712F770}"/>
              </a:ext>
            </a:extLst>
          </p:cNvPr>
          <p:cNvSpPr>
            <a:spLocks noGrp="1"/>
          </p:cNvSpPr>
          <p:nvPr>
            <p:ph type="title"/>
          </p:nvPr>
        </p:nvSpPr>
        <p:spPr>
          <a:xfrm>
            <a:off x="978400" y="1334333"/>
            <a:ext cx="7794000" cy="1087934"/>
          </a:xfrm>
        </p:spPr>
        <p:txBody>
          <a:bodyPr>
            <a:normAutofit/>
          </a:bodyPr>
          <a:lstStyle/>
          <a:p>
            <a:r>
              <a:rPr lang="cs-CZ" sz="4000" dirty="0"/>
              <a:t>Otázky od oponenta</a:t>
            </a:r>
          </a:p>
        </p:txBody>
      </p:sp>
      <p:sp>
        <p:nvSpPr>
          <p:cNvPr id="3" name="Zástupný obsah 2">
            <a:extLst>
              <a:ext uri="{FF2B5EF4-FFF2-40B4-BE49-F238E27FC236}">
                <a16:creationId xmlns:a16="http://schemas.microsoft.com/office/drawing/2014/main" id="{FD619858-6666-DA38-ECBC-A97365F63F67}"/>
              </a:ext>
            </a:extLst>
          </p:cNvPr>
          <p:cNvSpPr>
            <a:spLocks noGrp="1"/>
          </p:cNvSpPr>
          <p:nvPr>
            <p:ph idx="1"/>
          </p:nvPr>
        </p:nvSpPr>
        <p:spPr>
          <a:xfrm>
            <a:off x="978400" y="2115137"/>
            <a:ext cx="7794000" cy="4175595"/>
          </a:xfrm>
        </p:spPr>
        <p:txBody>
          <a:bodyPr>
            <a:normAutofit/>
          </a:bodyPr>
          <a:lstStyle/>
          <a:p>
            <a:pPr marL="342900" indent="-342900">
              <a:buFont typeface="Arial" panose="020B0604020202020204" pitchFamily="34" charset="0"/>
              <a:buChar char="•"/>
            </a:pPr>
            <a:r>
              <a:rPr lang="cs-CZ" sz="2400" dirty="0"/>
              <a:t>pro čerpání více druhů tekutiny nutnost více kalibračních tabulek</a:t>
            </a:r>
          </a:p>
          <a:p>
            <a:pPr marL="342900" indent="-342900">
              <a:buFont typeface="Arial" panose="020B0604020202020204" pitchFamily="34" charset="0"/>
              <a:buChar char="•"/>
            </a:pPr>
            <a:r>
              <a:rPr lang="cs-CZ" sz="2400" dirty="0"/>
              <a:t>na HMI volba nápoje, </a:t>
            </a:r>
            <a:r>
              <a:rPr lang="cs-CZ" sz="2400" dirty="0" err="1"/>
              <a:t>backend</a:t>
            </a:r>
            <a:r>
              <a:rPr lang="cs-CZ" sz="2400" dirty="0"/>
              <a:t> logika zpracuje požadavek</a:t>
            </a:r>
          </a:p>
          <a:p>
            <a:pPr marL="342900" indent="-342900">
              <a:buFont typeface="Arial" panose="020B0604020202020204" pitchFamily="34" charset="0"/>
              <a:buChar char="•"/>
            </a:pPr>
            <a:r>
              <a:rPr lang="cs-CZ" sz="2400" dirty="0"/>
              <a:t>URO – odměření jedné tekutiny a potom druhé</a:t>
            </a:r>
          </a:p>
          <a:p>
            <a:pPr marL="342900" indent="-342900">
              <a:buFont typeface="Arial" panose="020B0604020202020204" pitchFamily="34" charset="0"/>
              <a:buChar char="•"/>
            </a:pPr>
            <a:r>
              <a:rPr lang="cs-CZ" sz="2400" dirty="0"/>
              <a:t>HW </a:t>
            </a:r>
          </a:p>
          <a:p>
            <a:pPr marL="1028666" lvl="1" indent="-342900"/>
            <a:r>
              <a:rPr lang="cs-CZ" sz="2000" dirty="0"/>
              <a:t>více čerpadel</a:t>
            </a:r>
          </a:p>
          <a:p>
            <a:pPr marL="1028666" lvl="1" indent="-342900"/>
            <a:r>
              <a:rPr lang="cs-CZ" sz="2000" dirty="0"/>
              <a:t>vícecestný ventil</a:t>
            </a:r>
          </a:p>
          <a:p>
            <a:pPr marL="1028666" lvl="1" indent="-342900"/>
            <a:r>
              <a:rPr lang="cs-CZ" sz="2000" dirty="0"/>
              <a:t>více trysek</a:t>
            </a:r>
          </a:p>
          <a:p>
            <a:pPr marL="1028666" lvl="1" indent="-342900"/>
            <a:r>
              <a:rPr lang="cs-CZ" sz="2000" dirty="0"/>
              <a:t>dávkování již namíchaného nápoje</a:t>
            </a:r>
          </a:p>
          <a:p>
            <a:pPr marL="1028666" lvl="1" indent="-342900"/>
            <a:r>
              <a:rPr lang="cs-CZ" sz="2000" dirty="0"/>
              <a:t>proporcionálně řídit ventily pro sirup a vodu </a:t>
            </a:r>
          </a:p>
        </p:txBody>
      </p:sp>
      <p:sp>
        <p:nvSpPr>
          <p:cNvPr id="4" name="Zástupný symbol pro číslo snímku 3">
            <a:extLst>
              <a:ext uri="{FF2B5EF4-FFF2-40B4-BE49-F238E27FC236}">
                <a16:creationId xmlns:a16="http://schemas.microsoft.com/office/drawing/2014/main" id="{600A8307-C086-7EC7-8BF6-070019B6A121}"/>
              </a:ext>
            </a:extLst>
          </p:cNvPr>
          <p:cNvSpPr>
            <a:spLocks noGrp="1"/>
          </p:cNvSpPr>
          <p:nvPr>
            <p:ph type="sldNum" sz="quarter" idx="11"/>
          </p:nvPr>
        </p:nvSpPr>
        <p:spPr/>
        <p:txBody>
          <a:bodyPr/>
          <a:lstStyle/>
          <a:p>
            <a:fld id="{EE49E6E8-1AE2-4E17-9D02-B0051A1FAF88}" type="slidenum">
              <a:rPr lang="cs-CZ" smtClean="0"/>
              <a:t>20</a:t>
            </a:fld>
            <a:endParaRPr lang="cs-CZ" dirty="0"/>
          </a:p>
        </p:txBody>
      </p:sp>
    </p:spTree>
    <p:extLst>
      <p:ext uri="{BB962C8B-B14F-4D97-AF65-F5344CB8AC3E}">
        <p14:creationId xmlns:p14="http://schemas.microsoft.com/office/powerpoint/2010/main" val="311342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F81A2-08B3-A1A0-2FB7-9658D5CE91F8}"/>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A1B5F6E-9113-50A7-D9AC-1915F12C67C5}"/>
              </a:ext>
            </a:extLst>
          </p:cNvPr>
          <p:cNvSpPr>
            <a:spLocks noGrp="1"/>
          </p:cNvSpPr>
          <p:nvPr>
            <p:ph type="title"/>
          </p:nvPr>
        </p:nvSpPr>
        <p:spPr>
          <a:xfrm>
            <a:off x="978400" y="1139600"/>
            <a:ext cx="7794000" cy="1087934"/>
          </a:xfrm>
        </p:spPr>
        <p:txBody>
          <a:bodyPr>
            <a:normAutofit/>
          </a:bodyPr>
          <a:lstStyle/>
          <a:p>
            <a:r>
              <a:rPr lang="cs-CZ" sz="4000" dirty="0"/>
              <a:t>Seznam obrázků</a:t>
            </a:r>
          </a:p>
        </p:txBody>
      </p:sp>
      <p:sp>
        <p:nvSpPr>
          <p:cNvPr id="3" name="Zástupný obsah 2">
            <a:extLst>
              <a:ext uri="{FF2B5EF4-FFF2-40B4-BE49-F238E27FC236}">
                <a16:creationId xmlns:a16="http://schemas.microsoft.com/office/drawing/2014/main" id="{D3B3545A-706D-A6BA-3E5F-DA2F578F058E}"/>
              </a:ext>
            </a:extLst>
          </p:cNvPr>
          <p:cNvSpPr>
            <a:spLocks noGrp="1"/>
          </p:cNvSpPr>
          <p:nvPr>
            <p:ph idx="1"/>
          </p:nvPr>
        </p:nvSpPr>
        <p:spPr>
          <a:xfrm>
            <a:off x="1063067" y="1840078"/>
            <a:ext cx="7794000" cy="4175595"/>
          </a:xfrm>
        </p:spPr>
        <p:txBody>
          <a:bodyPr>
            <a:normAutofit/>
          </a:bodyPr>
          <a:lstStyle/>
          <a:p>
            <a:r>
              <a:rPr lang="cs-CZ" sz="1800" dirty="0"/>
              <a:t>Diagram komponent . . . . . . . . . . . . . . . . . . . . . . . . . . . . . . . . . . . . . . . . . .  4</a:t>
            </a:r>
          </a:p>
          <a:p>
            <a:r>
              <a:rPr lang="cs-CZ" sz="1800" dirty="0"/>
              <a:t>Senzor překážky. . . . . . . . . . . . . . . . . . . . . . . . . . . . . . . . . . . . . . . . . . . . . . . 5</a:t>
            </a:r>
          </a:p>
          <a:p>
            <a:r>
              <a:rPr lang="cs-CZ" sz="1800" dirty="0"/>
              <a:t>Srovnání průběhů regulace a vlivu poruchy . . . . . . . . . . . . . . . . . . . . . 9</a:t>
            </a:r>
          </a:p>
          <a:p>
            <a:endParaRPr lang="cs-CZ" sz="2400" dirty="0"/>
          </a:p>
          <a:p>
            <a:endParaRPr lang="cs-CZ" sz="2400" dirty="0"/>
          </a:p>
          <a:p>
            <a:endParaRPr lang="cs-CZ" sz="2400" dirty="0"/>
          </a:p>
          <a:p>
            <a:endParaRPr lang="cs-CZ" sz="2400" dirty="0"/>
          </a:p>
          <a:p>
            <a:endParaRPr lang="cs-CZ" sz="2400" dirty="0"/>
          </a:p>
          <a:p>
            <a:endParaRPr lang="cs-CZ" sz="2400" dirty="0"/>
          </a:p>
          <a:p>
            <a:pPr marL="457200" indent="-457200">
              <a:buFont typeface="+mj-lt"/>
              <a:buAutoNum type="arabicPeriod"/>
            </a:pPr>
            <a:endParaRPr lang="cs-CZ" sz="2400" dirty="0"/>
          </a:p>
          <a:p>
            <a:pPr marL="342900" indent="-342900">
              <a:buFont typeface="Arial" panose="020B0604020202020204" pitchFamily="34" charset="0"/>
              <a:buChar char="•"/>
            </a:pPr>
            <a:endParaRPr lang="cs-CZ" sz="2400" dirty="0"/>
          </a:p>
        </p:txBody>
      </p:sp>
      <p:sp>
        <p:nvSpPr>
          <p:cNvPr id="4" name="Zástupný symbol pro číslo snímku 3">
            <a:extLst>
              <a:ext uri="{FF2B5EF4-FFF2-40B4-BE49-F238E27FC236}">
                <a16:creationId xmlns:a16="http://schemas.microsoft.com/office/drawing/2014/main" id="{92E63B64-5FC7-2EE9-F01D-83CBDAEC3119}"/>
              </a:ext>
            </a:extLst>
          </p:cNvPr>
          <p:cNvSpPr>
            <a:spLocks noGrp="1"/>
          </p:cNvSpPr>
          <p:nvPr>
            <p:ph type="sldNum" sz="quarter" idx="11"/>
          </p:nvPr>
        </p:nvSpPr>
        <p:spPr/>
        <p:txBody>
          <a:bodyPr/>
          <a:lstStyle/>
          <a:p>
            <a:fld id="{EE49E6E8-1AE2-4E17-9D02-B0051A1FAF88}" type="slidenum">
              <a:rPr lang="cs-CZ" smtClean="0"/>
              <a:t>21</a:t>
            </a:fld>
            <a:endParaRPr lang="cs-CZ" dirty="0"/>
          </a:p>
        </p:txBody>
      </p:sp>
    </p:spTree>
    <p:extLst>
      <p:ext uri="{BB962C8B-B14F-4D97-AF65-F5344CB8AC3E}">
        <p14:creationId xmlns:p14="http://schemas.microsoft.com/office/powerpoint/2010/main" val="1444319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21127-74D2-9AE2-C5DE-24A86C1D7402}"/>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E26B821-EDBF-3FB8-06C8-078CC6D20B36}"/>
              </a:ext>
            </a:extLst>
          </p:cNvPr>
          <p:cNvSpPr>
            <a:spLocks noGrp="1"/>
          </p:cNvSpPr>
          <p:nvPr>
            <p:ph type="title"/>
          </p:nvPr>
        </p:nvSpPr>
        <p:spPr>
          <a:xfrm>
            <a:off x="978400" y="1139600"/>
            <a:ext cx="7794000" cy="1087934"/>
          </a:xfrm>
        </p:spPr>
        <p:txBody>
          <a:bodyPr>
            <a:normAutofit/>
          </a:bodyPr>
          <a:lstStyle/>
          <a:p>
            <a:r>
              <a:rPr lang="cs-CZ" sz="4000" dirty="0"/>
              <a:t>Internetové odkazy</a:t>
            </a:r>
          </a:p>
        </p:txBody>
      </p:sp>
      <p:sp>
        <p:nvSpPr>
          <p:cNvPr id="3" name="Zástupný obsah 2">
            <a:extLst>
              <a:ext uri="{FF2B5EF4-FFF2-40B4-BE49-F238E27FC236}">
                <a16:creationId xmlns:a16="http://schemas.microsoft.com/office/drawing/2014/main" id="{9864F5EB-03D9-B23E-9B35-8B673E456712}"/>
              </a:ext>
            </a:extLst>
          </p:cNvPr>
          <p:cNvSpPr>
            <a:spLocks noGrp="1"/>
          </p:cNvSpPr>
          <p:nvPr>
            <p:ph idx="1"/>
          </p:nvPr>
        </p:nvSpPr>
        <p:spPr>
          <a:xfrm>
            <a:off x="1063067" y="1840078"/>
            <a:ext cx="7794000" cy="4175595"/>
          </a:xfrm>
        </p:spPr>
        <p:txBody>
          <a:bodyPr>
            <a:normAutofit/>
          </a:bodyPr>
          <a:lstStyle/>
          <a:p>
            <a:r>
              <a:rPr lang="cs-CZ" sz="2400" dirty="0"/>
              <a:t>[1] </a:t>
            </a:r>
            <a:r>
              <a:rPr lang="cs-CZ" sz="1400" dirty="0"/>
              <a:t> https://dratek.cz/arduino-platforma/74637-yf-s301-prutokomer-0-3-10l-min-5-18v.html?gad_source=1&amp;gad_campaignid=21656222776&amp;gbraid=0AAAAACVG_WeUL8jS_AK0ccgUsPxgXhnEe&amp;gclid=CjwKCAjw3ejRBhAdEiwADkqPn93x8cfFdJtAsBX6FRbaywL-Qmwk2slBmMEGSYrOvdZy_D4g4AFJMxoC2csQAvD_BwE</a:t>
            </a:r>
          </a:p>
          <a:p>
            <a:r>
              <a:rPr lang="cs-CZ" sz="2400" dirty="0"/>
              <a:t>[2] </a:t>
            </a:r>
            <a:r>
              <a:rPr lang="cs-CZ" sz="2400" dirty="0">
                <a:hlinkClick r:id="rId2"/>
              </a:rPr>
              <a:t>http://www.swissflow.com/sf800.html</a:t>
            </a:r>
            <a:endParaRPr lang="cs-CZ" sz="2400" dirty="0"/>
          </a:p>
          <a:p>
            <a:r>
              <a:rPr lang="cs-CZ" sz="2400" dirty="0"/>
              <a:t>[3] </a:t>
            </a:r>
            <a:r>
              <a:rPr lang="cs-CZ" sz="1600" dirty="0"/>
              <a:t>https://botland.cz/senzory-tlaku/3097-tenzometr-na27-1kg-10n-5904422359300.html?gad_source=1&amp;gad_campaignid=23585736608&amp;gbraid=0AAAAA96L3nR37Wl0KujW5O13QCGtnCVE1&amp;gclid=CjwKCAjw3ejRBhAdEiwADkqPn1SQfa82DXzRttKb4KS0FA0dDeFH4xUSrDlfePSgHk9ogEWVCyBclhoCYXYQAvD_BwE</a:t>
            </a:r>
          </a:p>
          <a:p>
            <a:endParaRPr lang="cs-CZ" sz="2400" dirty="0"/>
          </a:p>
        </p:txBody>
      </p:sp>
      <p:sp>
        <p:nvSpPr>
          <p:cNvPr id="4" name="Zástupný symbol pro číslo snímku 3">
            <a:extLst>
              <a:ext uri="{FF2B5EF4-FFF2-40B4-BE49-F238E27FC236}">
                <a16:creationId xmlns:a16="http://schemas.microsoft.com/office/drawing/2014/main" id="{F31D4409-EF47-134A-DD96-4ED4F08A55C1}"/>
              </a:ext>
            </a:extLst>
          </p:cNvPr>
          <p:cNvSpPr>
            <a:spLocks noGrp="1"/>
          </p:cNvSpPr>
          <p:nvPr>
            <p:ph type="sldNum" sz="quarter" idx="11"/>
          </p:nvPr>
        </p:nvSpPr>
        <p:spPr/>
        <p:txBody>
          <a:bodyPr/>
          <a:lstStyle/>
          <a:p>
            <a:fld id="{EE49E6E8-1AE2-4E17-9D02-B0051A1FAF88}" type="slidenum">
              <a:rPr lang="cs-CZ" smtClean="0"/>
              <a:t>22</a:t>
            </a:fld>
            <a:endParaRPr lang="cs-CZ" dirty="0"/>
          </a:p>
        </p:txBody>
      </p:sp>
    </p:spTree>
    <p:extLst>
      <p:ext uri="{BB962C8B-B14F-4D97-AF65-F5344CB8AC3E}">
        <p14:creationId xmlns:p14="http://schemas.microsoft.com/office/powerpoint/2010/main" val="1275891320"/>
      </p:ext>
    </p:extLst>
  </p:cSld>
  <p:clrMapOvr>
    <a:masterClrMapping/>
  </p:clrMapOvr>
</p:sld>
</file>

<file path=ppt/theme/theme1.xml><?xml version="1.0" encoding="utf-8"?>
<a:theme xmlns:a="http://schemas.openxmlformats.org/drawingml/2006/main" name="Motiv Office">
  <a:themeElements>
    <a:clrScheme name="Motiv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chnika">
      <a:majorFont>
        <a:latin typeface="Technika-Bold"/>
        <a:ea typeface=""/>
        <a:cs typeface=""/>
      </a:majorFont>
      <a:minorFont>
        <a:latin typeface="Technika"/>
        <a:ea typeface=""/>
        <a:cs typeface=""/>
      </a:minorFont>
    </a:fontScheme>
    <a:fmtScheme name="Motiv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CZ.potx" id="{1BD4F44E-F71F-4A14-9EF9-FF6613634235}" vid="{496B007D-76DB-4922-86C8-13F7F6C54EC7}"/>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PowerPoint_CS</Template>
  <TotalTime>6455</TotalTime>
  <Words>988</Words>
  <Application>Microsoft Office PowerPoint</Application>
  <PresentationFormat>Předvádění na obrazovce (4:3)</PresentationFormat>
  <Paragraphs>142</Paragraphs>
  <Slides>22</Slides>
  <Notes>0</Notes>
  <HiddenSlides>0</HiddenSlides>
  <MMClips>0</MMClips>
  <ScaleCrop>false</ScaleCrop>
  <HeadingPairs>
    <vt:vector size="6" baseType="variant">
      <vt:variant>
        <vt:lpstr>Použitá písma</vt:lpstr>
      </vt:variant>
      <vt:variant>
        <vt:i4>6</vt:i4>
      </vt:variant>
      <vt:variant>
        <vt:lpstr>Motiv</vt:lpstr>
      </vt:variant>
      <vt:variant>
        <vt:i4>1</vt:i4>
      </vt:variant>
      <vt:variant>
        <vt:lpstr>Nadpisy snímků</vt:lpstr>
      </vt:variant>
      <vt:variant>
        <vt:i4>22</vt:i4>
      </vt:variant>
    </vt:vector>
  </HeadingPairs>
  <TitlesOfParts>
    <vt:vector size="29" baseType="lpstr">
      <vt:lpstr>Technika-Bold</vt:lpstr>
      <vt:lpstr>Aptos</vt:lpstr>
      <vt:lpstr>Arial</vt:lpstr>
      <vt:lpstr>Cambria Math</vt:lpstr>
      <vt:lpstr>Times New Roman</vt:lpstr>
      <vt:lpstr>Technika</vt:lpstr>
      <vt:lpstr>Motiv Office</vt:lpstr>
      <vt:lpstr>Návrh a realizace prototypu automatizovaného nápojového dávkovacího systému s otočným ramenem</vt:lpstr>
      <vt:lpstr>Cíle práce</vt:lpstr>
      <vt:lpstr>Konceptuální návrh</vt:lpstr>
      <vt:lpstr>Řešené problémy - senzorika</vt:lpstr>
      <vt:lpstr>Řešené problémy - řízení</vt:lpstr>
      <vt:lpstr>Prezentace aplikace PowerPoint</vt:lpstr>
      <vt:lpstr>Implementované dopředné řízení</vt:lpstr>
      <vt:lpstr>SW architektura MCU</vt:lpstr>
      <vt:lpstr>Komunikační protokol a backend</vt:lpstr>
      <vt:lpstr>Uživatelské rozhraní a ergonomie</vt:lpstr>
      <vt:lpstr>Závěr</vt:lpstr>
      <vt:lpstr>DĚKUJI ZA POZORNOST</vt:lpstr>
      <vt:lpstr>Otázky od oponenta</vt:lpstr>
      <vt:lpstr>Otázky od oponenta</vt:lpstr>
      <vt:lpstr>Otázky od oponenta</vt:lpstr>
      <vt:lpstr>Otázky od oponenta</vt:lpstr>
      <vt:lpstr>Otázky od oponenta</vt:lpstr>
      <vt:lpstr>Otázky od oponenta</vt:lpstr>
      <vt:lpstr>Otázky od oponenta</vt:lpstr>
      <vt:lpstr>Otázky od oponenta</vt:lpstr>
      <vt:lpstr>Seznam obrázků</vt:lpstr>
      <vt:lpstr>Internetové odkazy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dc:creator>ČECH Daniel</dc:creator>
  <cp:lastModifiedBy>Cech, Daniel</cp:lastModifiedBy>
  <cp:revision>98</cp:revision>
  <dcterms:created xsi:type="dcterms:W3CDTF">2024-03-07T14:41:00Z</dcterms:created>
  <dcterms:modified xsi:type="dcterms:W3CDTF">2026-06-25T09:58:03Z</dcterms:modified>
</cp:coreProperties>
</file>